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Для перемещения страницы щёлкните мышью</a:t>
            </a:r>
            <a:endParaRPr b="0" lang="ru-RU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&lt;верхний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E854DFF-9CFD-455E-B531-1478DF7AE015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EC83D6-D0D9-4C04-8436-1DCDE3858BE8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3F10E93-F3C9-405C-82ED-032DEE6B747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A164BDC-45BD-4B61-AE97-2C754A98ED6B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8605B19-743E-4F76-881D-4E0B9BED72B9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64D25EEF-AB91-43F4-907F-2C0D956D799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66A9760-BEC3-4700-86A0-6E20C935B3B4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47A7E1F-3853-499A-8648-DA7E5DA1F89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F279049-4638-4DF0-8463-D62F5C2A626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EAB8C9D-D3D5-40B5-BC32-9444E8BA2D10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963FB4A-72D9-4BE9-B48A-328D2C7EC64C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&lt;номер&gt;</a:t>
            </a:fld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chemeClr val="dk1"/>
                </a:solidFill>
                <a:latin typeface="Calibri"/>
              </a:rPr>
              <a:t>Для правки структуры щёлкните мышью</a:t>
            </a:r>
            <a:endParaRPr b="0" lang="ru-RU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pc="-1" strike="noStrike">
                <a:solidFill>
                  <a:schemeClr val="dk1"/>
                </a:solidFill>
                <a:latin typeface="Calibri"/>
              </a:rPr>
              <a:t>Второй уровень структуры</a:t>
            </a:r>
            <a:endParaRPr b="0" lang="ru-RU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Третий уровень структуры</a:t>
            </a:r>
            <a:endParaRPr b="0" lang="ru-RU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Четвёртый уровень структуры</a:t>
            </a:r>
            <a:endParaRPr b="0" lang="ru-RU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Пятый уровень структуры</a:t>
            </a:r>
            <a:endParaRPr b="0" lang="ru-RU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Шестой уровень структуры</a:t>
            </a:r>
            <a:endParaRPr b="0" lang="ru-RU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Седьмой уровень структуры</a:t>
            </a:r>
            <a:endParaRPr b="0" lang="ru-RU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457200" y="1303200"/>
            <a:ext cx="82292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Arial"/>
                <a:ea typeface="Arial"/>
              </a:rPr>
              <a:t>📒 </a:t>
            </a:r>
            <a:r>
              <a:rPr b="1" lang="en-US" sz="4400" spc="-1" strike="noStrike">
                <a:solidFill>
                  <a:srgbClr val="ffffff"/>
                </a:solidFill>
                <a:latin typeface="Arial"/>
                <a:ea typeface="Arial"/>
              </a:rPr>
              <a:t>Контактная книга</a:t>
            </a:r>
            <a:endParaRPr b="0" lang="ru-RU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57200" y="24688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bee3f8"/>
                </a:solidFill>
                <a:latin typeface="Arial"/>
                <a:ea typeface="Arial"/>
              </a:rPr>
              <a:t>Настольное приложение для управления контактами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3200400" y="3063240"/>
            <a:ext cx="2742840" cy="36360"/>
          </a:xfrm>
          <a:prstGeom prst="rect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1097280" y="3383280"/>
            <a:ext cx="2194200" cy="822600"/>
          </a:xfrm>
          <a:prstGeom prst="roundRect">
            <a:avLst>
              <a:gd name="adj" fmla="val 8889"/>
            </a:avLst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097280" y="3383280"/>
            <a:ext cx="2194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bee3f8"/>
                </a:solidFill>
                <a:latin typeface="Arial"/>
                <a:ea typeface="Arial"/>
              </a:rPr>
              <a:t>🐍  </a:t>
            </a:r>
            <a:r>
              <a:rPr b="0" lang="en-US" sz="1300" spc="-1" strike="noStrike">
                <a:solidFill>
                  <a:srgbClr val="bee3f8"/>
                </a:solidFill>
                <a:latin typeface="Arial"/>
                <a:ea typeface="Arial"/>
              </a:rPr>
              <a:t>Python 3 + Tkinter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657600" y="3383280"/>
            <a:ext cx="2194200" cy="822600"/>
          </a:xfrm>
          <a:prstGeom prst="roundRect">
            <a:avLst>
              <a:gd name="adj" fmla="val 8889"/>
            </a:avLst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3657600" y="3383280"/>
            <a:ext cx="2194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bee3f8"/>
                </a:solidFill>
                <a:latin typeface="Arial"/>
                <a:ea typeface="Arial"/>
              </a:rPr>
              <a:t>🗂️  </a:t>
            </a:r>
            <a:r>
              <a:rPr b="0" lang="en-US" sz="1300" spc="-1" strike="noStrike">
                <a:solidFill>
                  <a:srgbClr val="bee3f8"/>
                </a:solidFill>
                <a:latin typeface="Arial"/>
                <a:ea typeface="Arial"/>
              </a:rPr>
              <a:t>ООП архитектура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6217920" y="3383280"/>
            <a:ext cx="2194200" cy="822600"/>
          </a:xfrm>
          <a:prstGeom prst="roundRect">
            <a:avLst>
              <a:gd name="adj" fmla="val 8889"/>
            </a:avLst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6217920" y="3383280"/>
            <a:ext cx="2194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bee3f8"/>
                </a:solidFill>
                <a:latin typeface="Arial"/>
                <a:ea typeface="Arial"/>
              </a:rPr>
              <a:t>💾  </a:t>
            </a:r>
            <a:r>
              <a:rPr b="0" lang="en-US" sz="1300" spc="-1" strike="noStrike">
                <a:solidFill>
                  <a:srgbClr val="bee3f8"/>
                </a:solidFill>
                <a:latin typeface="Arial"/>
                <a:ea typeface="Arial"/>
              </a:rPr>
              <a:t>JSON хранилище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0" y="4754880"/>
            <a:ext cx="9143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718096"/>
                </a:solidFill>
                <a:latin typeface="Arial"/>
                <a:ea typeface="Arial"/>
              </a:rPr>
              <a:t>Команда проекта • 202</a:t>
            </a:r>
            <a:r>
              <a:rPr b="0" lang="ru-RU" sz="1000" spc="-1" strike="noStrike">
                <a:solidFill>
                  <a:srgbClr val="718096"/>
                </a:solidFill>
                <a:latin typeface="Arial"/>
                <a:ea typeface="Arial"/>
              </a:rPr>
              <a:t>6</a:t>
            </a:r>
            <a:endParaRPr b="0" lang="ru-RU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Прямоугольник 14"/>
          <p:cNvSpPr/>
          <p:nvPr/>
        </p:nvSpPr>
        <p:spPr>
          <a:xfrm>
            <a:off x="1790280" y="596160"/>
            <a:ext cx="5563440" cy="63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ru-RU" sz="1800" spc="-1" strike="noStrike">
                <a:solidFill>
                  <a:schemeClr val="accent1"/>
                </a:solidFill>
                <a:latin typeface="Arial Black"/>
              </a:rPr>
              <a:t>Мухаммаджонов Фйзулло 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ru-RU" sz="1800" spc="-1" strike="noStrike">
                <a:solidFill>
                  <a:schemeClr val="accent1"/>
                </a:solidFill>
                <a:latin typeface="Arial Black"/>
              </a:rPr>
              <a:t>Гуруппа 4.407-1</a:t>
            </a:r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Цель и актуальность проекта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Shape 2"/>
          <p:cNvSpPr/>
          <p:nvPr/>
        </p:nvSpPr>
        <p:spPr>
          <a:xfrm>
            <a:off x="365760" y="822960"/>
            <a:ext cx="402300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365760" y="822960"/>
            <a:ext cx="4023000" cy="72720"/>
          </a:xfrm>
          <a:prstGeom prst="rect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4"/>
          <p:cNvSpPr/>
          <p:nvPr/>
        </p:nvSpPr>
        <p:spPr>
          <a:xfrm>
            <a:off x="365760" y="9601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d3748"/>
                </a:solidFill>
                <a:latin typeface="Arial"/>
                <a:ea typeface="Arial"/>
              </a:rPr>
              <a:t>🎯  </a:t>
            </a:r>
            <a:r>
              <a:rPr b="1" lang="en-US" sz="1400" spc="-1" strike="noStrike">
                <a:solidFill>
                  <a:srgbClr val="2d3748"/>
                </a:solidFill>
                <a:latin typeface="Arial"/>
                <a:ea typeface="Arial"/>
              </a:rPr>
              <a:t>Цель проекта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502920" y="1508760"/>
            <a:ext cx="37486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2d3748"/>
                </a:solidFill>
                <a:latin typeface="Arial"/>
                <a:ea typeface="Arial"/>
              </a:rPr>
              <a:t>Разработать удобное графическое приложение для хранения, поиска и управления личными и рабочими контактами с сохранением данных на диск.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4754880" y="822960"/>
            <a:ext cx="402300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4754880" y="822960"/>
            <a:ext cx="4023000" cy="72720"/>
          </a:xfrm>
          <a:prstGeom prst="rect">
            <a:avLst/>
          </a:prstGeom>
          <a:solidFill>
            <a:srgbClr val="48b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4754880" y="9601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d3748"/>
                </a:solidFill>
                <a:latin typeface="Arial"/>
                <a:ea typeface="Arial"/>
              </a:rPr>
              <a:t>💡  </a:t>
            </a:r>
            <a:r>
              <a:rPr b="1" lang="en-US" sz="1400" spc="-1" strike="noStrike">
                <a:solidFill>
                  <a:srgbClr val="2d3748"/>
                </a:solidFill>
                <a:latin typeface="Arial"/>
                <a:ea typeface="Arial"/>
              </a:rPr>
              <a:t>Актуальность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9"/>
          <p:cNvSpPr/>
          <p:nvPr/>
        </p:nvSpPr>
        <p:spPr>
          <a:xfrm>
            <a:off x="4892040" y="1508760"/>
            <a:ext cx="37486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1" lang="en-US" sz="1200" spc="-1" strike="noStrike">
                <a:solidFill>
                  <a:srgbClr val="4299e1"/>
                </a:solidFill>
                <a:latin typeface="Arial"/>
                <a:ea typeface="Arial"/>
              </a:rPr>
              <a:t>• </a:t>
            </a:r>
            <a:r>
              <a:rPr b="0" lang="en-US" sz="1200" spc="-1" strike="noStrike">
                <a:solidFill>
                  <a:srgbClr val="2d3748"/>
                </a:solidFill>
                <a:latin typeface="Arial"/>
                <a:ea typeface="Arial"/>
              </a:rPr>
              <a:t>Существующие адресные книги привязаны к облаку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200" spc="-1" strike="noStrike">
                <a:solidFill>
                  <a:srgbClr val="4299e1"/>
                </a:solidFill>
                <a:latin typeface="Arial"/>
                <a:ea typeface="Arial"/>
              </a:rPr>
              <a:t>• </a:t>
            </a:r>
            <a:r>
              <a:rPr b="0" lang="en-US" sz="1200" spc="-1" strike="noStrike">
                <a:solidFill>
                  <a:srgbClr val="2d3748"/>
                </a:solidFill>
                <a:latin typeface="Arial"/>
                <a:ea typeface="Arial"/>
              </a:rPr>
              <a:t>Нет удобного автономного решения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200" spc="-1" strike="noStrike">
                <a:solidFill>
                  <a:srgbClr val="4299e1"/>
                </a:solidFill>
                <a:latin typeface="Arial"/>
                <a:ea typeface="Arial"/>
              </a:rPr>
              <a:t>• </a:t>
            </a:r>
            <a:r>
              <a:rPr b="0" lang="en-US" sz="1200" spc="-1" strike="noStrike">
                <a:solidFill>
                  <a:srgbClr val="2d3748"/>
                </a:solidFill>
                <a:latin typeface="Arial"/>
                <a:ea typeface="Arial"/>
              </a:rPr>
              <a:t>Приложение работает без интернета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4299e1"/>
                </a:solidFill>
                <a:latin typeface="Arial"/>
                <a:ea typeface="Arial"/>
              </a:rPr>
              <a:t>• </a:t>
            </a:r>
            <a:r>
              <a:rPr b="0" lang="en-US" sz="1200" spc="-1" strike="noStrike">
                <a:solidFill>
                  <a:srgbClr val="2d3748"/>
                </a:solidFill>
                <a:latin typeface="Arial"/>
                <a:ea typeface="Arial"/>
              </a:rPr>
              <a:t>Данные хранятся локально и защищены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10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11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Контактная книга • Цель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1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Задачи проекта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2"/>
          <p:cNvSpPr/>
          <p:nvPr/>
        </p:nvSpPr>
        <p:spPr>
          <a:xfrm>
            <a:off x="274320" y="822960"/>
            <a:ext cx="2742840" cy="1737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3"/>
          <p:cNvSpPr/>
          <p:nvPr/>
        </p:nvSpPr>
        <p:spPr>
          <a:xfrm>
            <a:off x="274320" y="822960"/>
            <a:ext cx="2742840" cy="54360"/>
          </a:xfrm>
          <a:prstGeom prst="rect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4"/>
          <p:cNvSpPr/>
          <p:nvPr/>
        </p:nvSpPr>
        <p:spPr>
          <a:xfrm>
            <a:off x="411480" y="987480"/>
            <a:ext cx="383760" cy="38376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5"/>
          <p:cNvSpPr/>
          <p:nvPr/>
        </p:nvSpPr>
        <p:spPr>
          <a:xfrm>
            <a:off x="411480" y="987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01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6"/>
          <p:cNvSpPr/>
          <p:nvPr/>
        </p:nvSpPr>
        <p:spPr>
          <a:xfrm>
            <a:off x="868680" y="987480"/>
            <a:ext cx="2057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Реализовать хранение контактов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двух типов: личных и рабочих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7"/>
          <p:cNvSpPr/>
          <p:nvPr/>
        </p:nvSpPr>
        <p:spPr>
          <a:xfrm>
            <a:off x="3200400" y="822960"/>
            <a:ext cx="2742840" cy="1737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8"/>
          <p:cNvSpPr/>
          <p:nvPr/>
        </p:nvSpPr>
        <p:spPr>
          <a:xfrm>
            <a:off x="3200400" y="822960"/>
            <a:ext cx="2742840" cy="54360"/>
          </a:xfrm>
          <a:prstGeom prst="rect">
            <a:avLst/>
          </a:prstGeom>
          <a:solidFill>
            <a:srgbClr val="48b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9"/>
          <p:cNvSpPr/>
          <p:nvPr/>
        </p:nvSpPr>
        <p:spPr>
          <a:xfrm>
            <a:off x="3337560" y="987480"/>
            <a:ext cx="383760" cy="383760"/>
          </a:xfrm>
          <a:prstGeom prst="ellipse">
            <a:avLst/>
          </a:prstGeom>
          <a:solidFill>
            <a:srgbClr val="48b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Text 10"/>
          <p:cNvSpPr/>
          <p:nvPr/>
        </p:nvSpPr>
        <p:spPr>
          <a:xfrm>
            <a:off x="3337560" y="987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02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1"/>
          <p:cNvSpPr/>
          <p:nvPr/>
        </p:nvSpPr>
        <p:spPr>
          <a:xfrm>
            <a:off x="3794760" y="987480"/>
            <a:ext cx="2057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Обеспечить CRUD-операции: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создание, просмотр, редактирование, удаление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12"/>
          <p:cNvSpPr/>
          <p:nvPr/>
        </p:nvSpPr>
        <p:spPr>
          <a:xfrm>
            <a:off x="6126480" y="822960"/>
            <a:ext cx="2742840" cy="1737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3"/>
          <p:cNvSpPr/>
          <p:nvPr/>
        </p:nvSpPr>
        <p:spPr>
          <a:xfrm>
            <a:off x="6126480" y="822960"/>
            <a:ext cx="2742840" cy="54360"/>
          </a:xfrm>
          <a:prstGeom prst="rect">
            <a:avLst/>
          </a:prstGeom>
          <a:solidFill>
            <a:srgbClr val="9f7a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4"/>
          <p:cNvSpPr/>
          <p:nvPr/>
        </p:nvSpPr>
        <p:spPr>
          <a:xfrm>
            <a:off x="6263640" y="987480"/>
            <a:ext cx="383760" cy="383760"/>
          </a:xfrm>
          <a:prstGeom prst="ellipse">
            <a:avLst/>
          </a:prstGeom>
          <a:solidFill>
            <a:srgbClr val="9f7a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5"/>
          <p:cNvSpPr/>
          <p:nvPr/>
        </p:nvSpPr>
        <p:spPr>
          <a:xfrm>
            <a:off x="6263640" y="9874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03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6"/>
          <p:cNvSpPr/>
          <p:nvPr/>
        </p:nvSpPr>
        <p:spPr>
          <a:xfrm>
            <a:off x="6720840" y="987480"/>
            <a:ext cx="2057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Реализовать поиск по имени,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фамилии, телефону и email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17"/>
          <p:cNvSpPr/>
          <p:nvPr/>
        </p:nvSpPr>
        <p:spPr>
          <a:xfrm>
            <a:off x="274320" y="2834640"/>
            <a:ext cx="2742840" cy="1737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18"/>
          <p:cNvSpPr/>
          <p:nvPr/>
        </p:nvSpPr>
        <p:spPr>
          <a:xfrm>
            <a:off x="274320" y="2834640"/>
            <a:ext cx="2742840" cy="54360"/>
          </a:xfrm>
          <a:prstGeom prst="rect">
            <a:avLst/>
          </a:prstGeom>
          <a:solidFill>
            <a:srgbClr val="f6ad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19"/>
          <p:cNvSpPr/>
          <p:nvPr/>
        </p:nvSpPr>
        <p:spPr>
          <a:xfrm>
            <a:off x="411480" y="2999160"/>
            <a:ext cx="383760" cy="383760"/>
          </a:xfrm>
          <a:prstGeom prst="ellipse">
            <a:avLst/>
          </a:prstGeom>
          <a:solidFill>
            <a:srgbClr val="f6ad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20"/>
          <p:cNvSpPr/>
          <p:nvPr/>
        </p:nvSpPr>
        <p:spPr>
          <a:xfrm>
            <a:off x="411480" y="2999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21"/>
          <p:cNvSpPr/>
          <p:nvPr/>
        </p:nvSpPr>
        <p:spPr>
          <a:xfrm>
            <a:off x="868680" y="2999160"/>
            <a:ext cx="2057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Сохранять данные в JSON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между сеансами работы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22"/>
          <p:cNvSpPr/>
          <p:nvPr/>
        </p:nvSpPr>
        <p:spPr>
          <a:xfrm>
            <a:off x="3200400" y="2834640"/>
            <a:ext cx="2742840" cy="1737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23"/>
          <p:cNvSpPr/>
          <p:nvPr/>
        </p:nvSpPr>
        <p:spPr>
          <a:xfrm>
            <a:off x="3200400" y="2834640"/>
            <a:ext cx="2742840" cy="54360"/>
          </a:xfrm>
          <a:prstGeom prst="rect">
            <a:avLst/>
          </a:prstGeom>
          <a:solidFill>
            <a:srgbClr val="fc81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4"/>
          <p:cNvSpPr/>
          <p:nvPr/>
        </p:nvSpPr>
        <p:spPr>
          <a:xfrm>
            <a:off x="3337560" y="2999160"/>
            <a:ext cx="383760" cy="383760"/>
          </a:xfrm>
          <a:prstGeom prst="ellipse">
            <a:avLst/>
          </a:prstGeom>
          <a:solidFill>
            <a:srgbClr val="fc81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25"/>
          <p:cNvSpPr/>
          <p:nvPr/>
        </p:nvSpPr>
        <p:spPr>
          <a:xfrm>
            <a:off x="3337560" y="2999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05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26"/>
          <p:cNvSpPr/>
          <p:nvPr/>
        </p:nvSpPr>
        <p:spPr>
          <a:xfrm>
            <a:off x="3794760" y="2999160"/>
            <a:ext cx="2057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Разработать GUI на Tkinter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без консольного ввода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27"/>
          <p:cNvSpPr/>
          <p:nvPr/>
        </p:nvSpPr>
        <p:spPr>
          <a:xfrm>
            <a:off x="6126480" y="2834640"/>
            <a:ext cx="2742840" cy="17370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28"/>
          <p:cNvSpPr/>
          <p:nvPr/>
        </p:nvSpPr>
        <p:spPr>
          <a:xfrm>
            <a:off x="6126480" y="2834640"/>
            <a:ext cx="2742840" cy="54360"/>
          </a:xfrm>
          <a:prstGeom prst="rect">
            <a:avLst/>
          </a:prstGeom>
          <a:solidFill>
            <a:srgbClr val="4fd1c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29"/>
          <p:cNvSpPr/>
          <p:nvPr/>
        </p:nvSpPr>
        <p:spPr>
          <a:xfrm>
            <a:off x="6263640" y="2999160"/>
            <a:ext cx="383760" cy="383760"/>
          </a:xfrm>
          <a:prstGeom prst="ellipse">
            <a:avLst/>
          </a:prstGeom>
          <a:solidFill>
            <a:srgbClr val="4fd1c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30"/>
          <p:cNvSpPr/>
          <p:nvPr/>
        </p:nvSpPr>
        <p:spPr>
          <a:xfrm>
            <a:off x="6263640" y="29991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Arial"/>
                <a:ea typeface="Arial"/>
              </a:rPr>
              <a:t>06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31"/>
          <p:cNvSpPr/>
          <p:nvPr/>
        </p:nvSpPr>
        <p:spPr>
          <a:xfrm>
            <a:off x="6720840" y="2999160"/>
            <a:ext cx="2057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Применить принципы ООП: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3748"/>
                </a:solidFill>
                <a:latin typeface="Arial"/>
                <a:ea typeface="Arial"/>
              </a:rPr>
              <a:t>наследование, полиморфизм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32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33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Контактная книга • Задачи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Архитектура приложения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182880" y="777240"/>
            <a:ext cx="1599840" cy="2651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182880" y="777240"/>
            <a:ext cx="1599840" cy="456840"/>
          </a:xfrm>
          <a:prstGeom prst="rect">
            <a:avLst/>
          </a:prstGeom>
          <a:solidFill>
            <a:srgbClr val="9f7a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 4"/>
          <p:cNvSpPr/>
          <p:nvPr/>
        </p:nvSpPr>
        <p:spPr>
          <a:xfrm>
            <a:off x="18288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📦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5"/>
          <p:cNvSpPr/>
          <p:nvPr/>
        </p:nvSpPr>
        <p:spPr>
          <a:xfrm>
            <a:off x="182880" y="130752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f7aea"/>
                </a:solidFill>
                <a:latin typeface="Consolas"/>
                <a:ea typeface="Consolas"/>
              </a:rPr>
              <a:t>models.py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6"/>
          <p:cNvSpPr/>
          <p:nvPr/>
        </p:nvSpPr>
        <p:spPr>
          <a:xfrm>
            <a:off x="182880" y="178308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Модели данных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7"/>
          <p:cNvSpPr/>
          <p:nvPr/>
        </p:nvSpPr>
        <p:spPr>
          <a:xfrm>
            <a:off x="182880" y="2194560"/>
            <a:ext cx="1599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Contact, PersonalContact,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BusinessContact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8"/>
          <p:cNvSpPr/>
          <p:nvPr/>
        </p:nvSpPr>
        <p:spPr>
          <a:xfrm>
            <a:off x="1828800" y="1874520"/>
            <a:ext cx="91080" cy="54360"/>
          </a:xfrm>
          <a:prstGeom prst="rect">
            <a:avLst/>
          </a:prstGeom>
          <a:solidFill>
            <a:srgbClr val="7180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9"/>
          <p:cNvSpPr/>
          <p:nvPr/>
        </p:nvSpPr>
        <p:spPr>
          <a:xfrm>
            <a:off x="1947600" y="777240"/>
            <a:ext cx="1599840" cy="2651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10"/>
          <p:cNvSpPr/>
          <p:nvPr/>
        </p:nvSpPr>
        <p:spPr>
          <a:xfrm>
            <a:off x="1947600" y="777240"/>
            <a:ext cx="1599840" cy="456840"/>
          </a:xfrm>
          <a:prstGeom prst="rect">
            <a:avLst/>
          </a:prstGeom>
          <a:solidFill>
            <a:srgbClr val="f6ad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11"/>
          <p:cNvSpPr/>
          <p:nvPr/>
        </p:nvSpPr>
        <p:spPr>
          <a:xfrm>
            <a:off x="194760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💾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1947600" y="130752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6ad55"/>
                </a:solidFill>
                <a:latin typeface="Consolas"/>
                <a:ea typeface="Consolas"/>
              </a:rPr>
              <a:t>storage.py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3"/>
          <p:cNvSpPr/>
          <p:nvPr/>
        </p:nvSpPr>
        <p:spPr>
          <a:xfrm>
            <a:off x="1947600" y="178308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Хранилище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14"/>
          <p:cNvSpPr/>
          <p:nvPr/>
        </p:nvSpPr>
        <p:spPr>
          <a:xfrm>
            <a:off x="1947600" y="2194560"/>
            <a:ext cx="1599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FileStorage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Чтение/запись JSON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15"/>
          <p:cNvSpPr/>
          <p:nvPr/>
        </p:nvSpPr>
        <p:spPr>
          <a:xfrm>
            <a:off x="3593520" y="1874520"/>
            <a:ext cx="91080" cy="54360"/>
          </a:xfrm>
          <a:prstGeom prst="rect">
            <a:avLst/>
          </a:prstGeom>
          <a:solidFill>
            <a:srgbClr val="7180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16"/>
          <p:cNvSpPr/>
          <p:nvPr/>
        </p:nvSpPr>
        <p:spPr>
          <a:xfrm>
            <a:off x="3712320" y="777240"/>
            <a:ext cx="1599840" cy="2651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17"/>
          <p:cNvSpPr/>
          <p:nvPr/>
        </p:nvSpPr>
        <p:spPr>
          <a:xfrm>
            <a:off x="3712320" y="777240"/>
            <a:ext cx="1599840" cy="456840"/>
          </a:xfrm>
          <a:prstGeom prst="rect">
            <a:avLst/>
          </a:prstGeom>
          <a:solidFill>
            <a:srgbClr val="48b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18"/>
          <p:cNvSpPr/>
          <p:nvPr/>
        </p:nvSpPr>
        <p:spPr>
          <a:xfrm>
            <a:off x="371232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⚙️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9"/>
          <p:cNvSpPr/>
          <p:nvPr/>
        </p:nvSpPr>
        <p:spPr>
          <a:xfrm>
            <a:off x="3712320" y="130752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8bb78"/>
                </a:solidFill>
                <a:latin typeface="Consolas"/>
                <a:ea typeface="Consolas"/>
              </a:rPr>
              <a:t>manager.py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20"/>
          <p:cNvSpPr/>
          <p:nvPr/>
        </p:nvSpPr>
        <p:spPr>
          <a:xfrm>
            <a:off x="3712320" y="178308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Бизнес-логика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21"/>
          <p:cNvSpPr/>
          <p:nvPr/>
        </p:nvSpPr>
        <p:spPr>
          <a:xfrm>
            <a:off x="3712320" y="2194560"/>
            <a:ext cx="1599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ContactManager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CRUD + поиск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22"/>
          <p:cNvSpPr/>
          <p:nvPr/>
        </p:nvSpPr>
        <p:spPr>
          <a:xfrm>
            <a:off x="5358240" y="1874520"/>
            <a:ext cx="91080" cy="54360"/>
          </a:xfrm>
          <a:prstGeom prst="rect">
            <a:avLst/>
          </a:prstGeom>
          <a:solidFill>
            <a:srgbClr val="7180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23"/>
          <p:cNvSpPr/>
          <p:nvPr/>
        </p:nvSpPr>
        <p:spPr>
          <a:xfrm>
            <a:off x="5477400" y="777240"/>
            <a:ext cx="1599840" cy="2651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24"/>
          <p:cNvSpPr/>
          <p:nvPr/>
        </p:nvSpPr>
        <p:spPr>
          <a:xfrm>
            <a:off x="5477400" y="777240"/>
            <a:ext cx="1599840" cy="456840"/>
          </a:xfrm>
          <a:prstGeom prst="rect">
            <a:avLst/>
          </a:prstGeom>
          <a:solidFill>
            <a:srgbClr val="fc81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5"/>
          <p:cNvSpPr/>
          <p:nvPr/>
        </p:nvSpPr>
        <p:spPr>
          <a:xfrm>
            <a:off x="547740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📝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26"/>
          <p:cNvSpPr/>
          <p:nvPr/>
        </p:nvSpPr>
        <p:spPr>
          <a:xfrm>
            <a:off x="5477400" y="130752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c8181"/>
                </a:solidFill>
                <a:latin typeface="Consolas"/>
                <a:ea typeface="Consolas"/>
              </a:rPr>
              <a:t>dialog.py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27"/>
          <p:cNvSpPr/>
          <p:nvPr/>
        </p:nvSpPr>
        <p:spPr>
          <a:xfrm>
            <a:off x="5477400" y="178308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Форма ввода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28"/>
          <p:cNvSpPr/>
          <p:nvPr/>
        </p:nvSpPr>
        <p:spPr>
          <a:xfrm>
            <a:off x="5477400" y="2194560"/>
            <a:ext cx="1599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ContactDialog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Диалог создания/редакт.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29"/>
          <p:cNvSpPr/>
          <p:nvPr/>
        </p:nvSpPr>
        <p:spPr>
          <a:xfrm>
            <a:off x="7123320" y="1874520"/>
            <a:ext cx="91080" cy="54360"/>
          </a:xfrm>
          <a:prstGeom prst="rect">
            <a:avLst/>
          </a:prstGeom>
          <a:solidFill>
            <a:srgbClr val="71809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Shape 30"/>
          <p:cNvSpPr/>
          <p:nvPr/>
        </p:nvSpPr>
        <p:spPr>
          <a:xfrm>
            <a:off x="7242120" y="777240"/>
            <a:ext cx="1599840" cy="26514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31"/>
          <p:cNvSpPr/>
          <p:nvPr/>
        </p:nvSpPr>
        <p:spPr>
          <a:xfrm>
            <a:off x="7242120" y="777240"/>
            <a:ext cx="1599840" cy="456840"/>
          </a:xfrm>
          <a:prstGeom prst="rect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32"/>
          <p:cNvSpPr/>
          <p:nvPr/>
        </p:nvSpPr>
        <p:spPr>
          <a:xfrm>
            <a:off x="724212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  <a:ea typeface="Arial"/>
              </a:rPr>
              <a:t>🖥️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33"/>
          <p:cNvSpPr/>
          <p:nvPr/>
        </p:nvSpPr>
        <p:spPr>
          <a:xfrm>
            <a:off x="7242120" y="130752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4299e1"/>
                </a:solidFill>
                <a:latin typeface="Consolas"/>
                <a:ea typeface="Consolas"/>
              </a:rPr>
              <a:t>app.py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34"/>
          <p:cNvSpPr/>
          <p:nvPr/>
        </p:nvSpPr>
        <p:spPr>
          <a:xfrm>
            <a:off x="7242120" y="178308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Главное окно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35"/>
          <p:cNvSpPr/>
          <p:nvPr/>
        </p:nvSpPr>
        <p:spPr>
          <a:xfrm>
            <a:off x="7242120" y="2194560"/>
            <a:ext cx="1599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ContactApp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Точка входа, UI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36"/>
          <p:cNvSpPr/>
          <p:nvPr/>
        </p:nvSpPr>
        <p:spPr>
          <a:xfrm>
            <a:off x="182880" y="3657600"/>
            <a:ext cx="8777880" cy="10512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37"/>
          <p:cNvSpPr/>
          <p:nvPr/>
        </p:nvSpPr>
        <p:spPr>
          <a:xfrm>
            <a:off x="365760" y="3749040"/>
            <a:ext cx="841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bee3f8"/>
                </a:solidFill>
                <a:latin typeface="Arial"/>
                <a:ea typeface="Arial"/>
              </a:rPr>
              <a:t>Применённые принципы ООП: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38"/>
          <p:cNvSpPr/>
          <p:nvPr/>
        </p:nvSpPr>
        <p:spPr>
          <a:xfrm>
            <a:off x="365760" y="416052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🔒 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Инкапсуляция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 39"/>
          <p:cNvSpPr/>
          <p:nvPr/>
        </p:nvSpPr>
        <p:spPr>
          <a:xfrm>
            <a:off x="2560320" y="416052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🧬 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Наследование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40"/>
          <p:cNvSpPr/>
          <p:nvPr/>
        </p:nvSpPr>
        <p:spPr>
          <a:xfrm>
            <a:off x="4754880" y="416052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🔄 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Полиморфизм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41"/>
          <p:cNvSpPr/>
          <p:nvPr/>
        </p:nvSpPr>
        <p:spPr>
          <a:xfrm>
            <a:off x="6949440" y="416052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🧩 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Единая ответственность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42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43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Контактная книга • Архитектура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35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Диаграмма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58"/>
          <p:cNvSpPr/>
          <p:nvPr/>
        </p:nvSpPr>
        <p:spPr>
          <a:xfrm>
            <a:off x="18288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60"/>
          <p:cNvSpPr/>
          <p:nvPr/>
        </p:nvSpPr>
        <p:spPr>
          <a:xfrm>
            <a:off x="182880" y="130752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2"/>
          <p:cNvSpPr/>
          <p:nvPr/>
        </p:nvSpPr>
        <p:spPr>
          <a:xfrm>
            <a:off x="182880" y="1783080"/>
            <a:ext cx="15998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4"/>
          <p:cNvSpPr/>
          <p:nvPr/>
        </p:nvSpPr>
        <p:spPr>
          <a:xfrm>
            <a:off x="182880" y="2194560"/>
            <a:ext cx="1599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66"/>
          <p:cNvSpPr/>
          <p:nvPr/>
        </p:nvSpPr>
        <p:spPr>
          <a:xfrm>
            <a:off x="194760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74"/>
          <p:cNvSpPr/>
          <p:nvPr/>
        </p:nvSpPr>
        <p:spPr>
          <a:xfrm>
            <a:off x="371232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79"/>
          <p:cNvSpPr/>
          <p:nvPr/>
        </p:nvSpPr>
        <p:spPr>
          <a:xfrm>
            <a:off x="547740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83"/>
          <p:cNvSpPr/>
          <p:nvPr/>
        </p:nvSpPr>
        <p:spPr>
          <a:xfrm>
            <a:off x="7242120" y="777240"/>
            <a:ext cx="1599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84"/>
          <p:cNvSpPr/>
          <p:nvPr/>
        </p:nvSpPr>
        <p:spPr>
          <a:xfrm>
            <a:off x="7242120" y="1307520"/>
            <a:ext cx="1599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86"/>
          <p:cNvSpPr/>
          <p:nvPr/>
        </p:nvSpPr>
        <p:spPr>
          <a:xfrm>
            <a:off x="7242120" y="2194560"/>
            <a:ext cx="15998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87"/>
          <p:cNvSpPr/>
          <p:nvPr/>
        </p:nvSpPr>
        <p:spPr>
          <a:xfrm>
            <a:off x="365760" y="3749040"/>
            <a:ext cx="8412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88"/>
          <p:cNvSpPr/>
          <p:nvPr/>
        </p:nvSpPr>
        <p:spPr>
          <a:xfrm>
            <a:off x="365760" y="416052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89"/>
          <p:cNvSpPr/>
          <p:nvPr/>
        </p:nvSpPr>
        <p:spPr>
          <a:xfrm>
            <a:off x="2560320" y="416052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90"/>
          <p:cNvSpPr/>
          <p:nvPr/>
        </p:nvSpPr>
        <p:spPr>
          <a:xfrm>
            <a:off x="4754880" y="4160520"/>
            <a:ext cx="21027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9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92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Контактная книга • Архитектура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8" name="" descr=""/>
          <p:cNvPicPr/>
          <p:nvPr/>
        </p:nvPicPr>
        <p:blipFill>
          <a:blip r:embed="rId1"/>
          <a:stretch/>
        </p:blipFill>
        <p:spPr>
          <a:xfrm>
            <a:off x="900000" y="639720"/>
            <a:ext cx="7020000" cy="4206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Функционал приложения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2"/>
          <p:cNvSpPr/>
          <p:nvPr/>
        </p:nvSpPr>
        <p:spPr>
          <a:xfrm>
            <a:off x="365760" y="822960"/>
            <a:ext cx="25599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3"/>
          <p:cNvSpPr/>
          <p:nvPr/>
        </p:nvSpPr>
        <p:spPr>
          <a:xfrm>
            <a:off x="548640" y="1051560"/>
            <a:ext cx="502560" cy="50256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548640" y="10515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➕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1143000" y="102420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d3748"/>
                </a:solidFill>
                <a:latin typeface="Arial"/>
                <a:ea typeface="Arial"/>
              </a:rPr>
              <a:t>Добавление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1143000" y="1417320"/>
            <a:ext cx="1645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Два типа контактов: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Личный и Рабочий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7"/>
          <p:cNvSpPr/>
          <p:nvPr/>
        </p:nvSpPr>
        <p:spPr>
          <a:xfrm>
            <a:off x="3200400" y="822960"/>
            <a:ext cx="25599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8"/>
          <p:cNvSpPr/>
          <p:nvPr/>
        </p:nvSpPr>
        <p:spPr>
          <a:xfrm>
            <a:off x="3383280" y="1051560"/>
            <a:ext cx="502560" cy="502560"/>
          </a:xfrm>
          <a:prstGeom prst="ellipse">
            <a:avLst/>
          </a:prstGeom>
          <a:solidFill>
            <a:srgbClr val="9f7a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3383280" y="10515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🔍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 10"/>
          <p:cNvSpPr/>
          <p:nvPr/>
        </p:nvSpPr>
        <p:spPr>
          <a:xfrm>
            <a:off x="3977640" y="102420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d3748"/>
                </a:solidFill>
                <a:latin typeface="Arial"/>
                <a:ea typeface="Arial"/>
              </a:rPr>
              <a:t>Поиск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11"/>
          <p:cNvSpPr/>
          <p:nvPr/>
        </p:nvSpPr>
        <p:spPr>
          <a:xfrm>
            <a:off x="3977640" y="1417320"/>
            <a:ext cx="1645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По имени, фамилии,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телефону, email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12"/>
          <p:cNvSpPr/>
          <p:nvPr/>
        </p:nvSpPr>
        <p:spPr>
          <a:xfrm>
            <a:off x="6035040" y="822960"/>
            <a:ext cx="25599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13"/>
          <p:cNvSpPr/>
          <p:nvPr/>
        </p:nvSpPr>
        <p:spPr>
          <a:xfrm>
            <a:off x="6217920" y="1051560"/>
            <a:ext cx="502560" cy="502560"/>
          </a:xfrm>
          <a:prstGeom prst="ellipse">
            <a:avLst/>
          </a:prstGeom>
          <a:solidFill>
            <a:srgbClr val="48b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4"/>
          <p:cNvSpPr/>
          <p:nvPr/>
        </p:nvSpPr>
        <p:spPr>
          <a:xfrm>
            <a:off x="6217920" y="105156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✏️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15"/>
          <p:cNvSpPr/>
          <p:nvPr/>
        </p:nvSpPr>
        <p:spPr>
          <a:xfrm>
            <a:off x="6812280" y="102420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d3748"/>
                </a:solidFill>
                <a:latin typeface="Arial"/>
                <a:ea typeface="Arial"/>
              </a:rPr>
              <a:t>Редактирование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6"/>
          <p:cNvSpPr/>
          <p:nvPr/>
        </p:nvSpPr>
        <p:spPr>
          <a:xfrm>
            <a:off x="6812280" y="1417320"/>
            <a:ext cx="1645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Изменение любого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поля контакта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17"/>
          <p:cNvSpPr/>
          <p:nvPr/>
        </p:nvSpPr>
        <p:spPr>
          <a:xfrm>
            <a:off x="365760" y="2697480"/>
            <a:ext cx="25599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18"/>
          <p:cNvSpPr/>
          <p:nvPr/>
        </p:nvSpPr>
        <p:spPr>
          <a:xfrm>
            <a:off x="548640" y="2926080"/>
            <a:ext cx="502560" cy="502560"/>
          </a:xfrm>
          <a:prstGeom prst="ellipse">
            <a:avLst/>
          </a:prstGeom>
          <a:solidFill>
            <a:srgbClr val="fc81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19"/>
          <p:cNvSpPr/>
          <p:nvPr/>
        </p:nvSpPr>
        <p:spPr>
          <a:xfrm>
            <a:off x="548640" y="2926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🗑️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20"/>
          <p:cNvSpPr/>
          <p:nvPr/>
        </p:nvSpPr>
        <p:spPr>
          <a:xfrm>
            <a:off x="1143000" y="289872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d3748"/>
                </a:solidFill>
                <a:latin typeface="Arial"/>
                <a:ea typeface="Arial"/>
              </a:rPr>
              <a:t>Удаление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21"/>
          <p:cNvSpPr/>
          <p:nvPr/>
        </p:nvSpPr>
        <p:spPr>
          <a:xfrm>
            <a:off x="1143000" y="3291840"/>
            <a:ext cx="1645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С подтверждением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действия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22"/>
          <p:cNvSpPr/>
          <p:nvPr/>
        </p:nvSpPr>
        <p:spPr>
          <a:xfrm>
            <a:off x="3200400" y="2697480"/>
            <a:ext cx="25599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23"/>
          <p:cNvSpPr/>
          <p:nvPr/>
        </p:nvSpPr>
        <p:spPr>
          <a:xfrm>
            <a:off x="3383280" y="2926080"/>
            <a:ext cx="502560" cy="502560"/>
          </a:xfrm>
          <a:prstGeom prst="ellipse">
            <a:avLst/>
          </a:prstGeom>
          <a:solidFill>
            <a:srgbClr val="f6ad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24"/>
          <p:cNvSpPr/>
          <p:nvPr/>
        </p:nvSpPr>
        <p:spPr>
          <a:xfrm>
            <a:off x="3383280" y="2926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💾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25"/>
          <p:cNvSpPr/>
          <p:nvPr/>
        </p:nvSpPr>
        <p:spPr>
          <a:xfrm>
            <a:off x="3977640" y="289872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d3748"/>
                </a:solidFill>
                <a:latin typeface="Arial"/>
                <a:ea typeface="Arial"/>
              </a:rPr>
              <a:t>Сохранение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 26"/>
          <p:cNvSpPr/>
          <p:nvPr/>
        </p:nvSpPr>
        <p:spPr>
          <a:xfrm>
            <a:off x="3977640" y="3291840"/>
            <a:ext cx="1645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Автосохранение в JSON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между сеансами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27"/>
          <p:cNvSpPr/>
          <p:nvPr/>
        </p:nvSpPr>
        <p:spPr>
          <a:xfrm>
            <a:off x="6035040" y="2697480"/>
            <a:ext cx="2559960" cy="16455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28"/>
          <p:cNvSpPr/>
          <p:nvPr/>
        </p:nvSpPr>
        <p:spPr>
          <a:xfrm>
            <a:off x="6217920" y="2926080"/>
            <a:ext cx="502560" cy="502560"/>
          </a:xfrm>
          <a:prstGeom prst="ellipse">
            <a:avLst/>
          </a:prstGeom>
          <a:solidFill>
            <a:srgbClr val="4fd1c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29"/>
          <p:cNvSpPr/>
          <p:nvPr/>
        </p:nvSpPr>
        <p:spPr>
          <a:xfrm>
            <a:off x="6217920" y="29260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ffffff"/>
                </a:solidFill>
                <a:latin typeface="Arial"/>
                <a:ea typeface="Arial"/>
              </a:rPr>
              <a:t>📋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0"/>
          <p:cNvSpPr/>
          <p:nvPr/>
        </p:nvSpPr>
        <p:spPr>
          <a:xfrm>
            <a:off x="6812280" y="2898720"/>
            <a:ext cx="1645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d3748"/>
                </a:solidFill>
                <a:latin typeface="Arial"/>
                <a:ea typeface="Arial"/>
              </a:rPr>
              <a:t>Просмотр</a:t>
            </a: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31"/>
          <p:cNvSpPr/>
          <p:nvPr/>
        </p:nvSpPr>
        <p:spPr>
          <a:xfrm>
            <a:off x="6812280" y="3291840"/>
            <a:ext cx="16455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Список + панель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18096"/>
                </a:solidFill>
                <a:latin typeface="Arial"/>
                <a:ea typeface="Arial"/>
              </a:rPr>
              <a:t>деталей контакта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32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33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Контактная книга • Функционал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Сценарий тестирования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228600" y="749880"/>
            <a:ext cx="8686440" cy="511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274320" y="822960"/>
            <a:ext cx="365400" cy="36540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274320" y="822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01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5"/>
          <p:cNvSpPr/>
          <p:nvPr/>
        </p:nvSpPr>
        <p:spPr>
          <a:xfrm>
            <a:off x="731520" y="80460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Запуск приложения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6"/>
          <p:cNvSpPr/>
          <p:nvPr/>
        </p:nvSpPr>
        <p:spPr>
          <a:xfrm>
            <a:off x="3931920" y="804600"/>
            <a:ext cx="4297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Открывается главное окно, загружаются сохранённые контакты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7"/>
          <p:cNvSpPr/>
          <p:nvPr/>
        </p:nvSpPr>
        <p:spPr>
          <a:xfrm>
            <a:off x="8321040" y="80460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8"/>
          <p:cNvSpPr/>
          <p:nvPr/>
        </p:nvSpPr>
        <p:spPr>
          <a:xfrm>
            <a:off x="228600" y="1325880"/>
            <a:ext cx="8686440" cy="511560"/>
          </a:xfrm>
          <a:prstGeom prst="rect">
            <a:avLst/>
          </a:prstGeom>
          <a:solidFill>
            <a:srgbClr val="f0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9"/>
          <p:cNvSpPr/>
          <p:nvPr/>
        </p:nvSpPr>
        <p:spPr>
          <a:xfrm>
            <a:off x="274320" y="1398960"/>
            <a:ext cx="365400" cy="36540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10"/>
          <p:cNvSpPr/>
          <p:nvPr/>
        </p:nvSpPr>
        <p:spPr>
          <a:xfrm>
            <a:off x="274320" y="1398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02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11"/>
          <p:cNvSpPr/>
          <p:nvPr/>
        </p:nvSpPr>
        <p:spPr>
          <a:xfrm>
            <a:off x="731520" y="138060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Добавление личного контакта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3931920" y="1380600"/>
            <a:ext cx="4297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Форма открывается, поля заполняются, контакт появляется в списке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8321040" y="138060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14"/>
          <p:cNvSpPr/>
          <p:nvPr/>
        </p:nvSpPr>
        <p:spPr>
          <a:xfrm>
            <a:off x="228600" y="1901880"/>
            <a:ext cx="8686440" cy="511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274320" y="1974960"/>
            <a:ext cx="365400" cy="36540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16"/>
          <p:cNvSpPr/>
          <p:nvPr/>
        </p:nvSpPr>
        <p:spPr>
          <a:xfrm>
            <a:off x="274320" y="197496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03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731520" y="195696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Добавление рабочего контакта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3931920" y="1956960"/>
            <a:ext cx="4297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Форма переключается, отображаются поля Компания и Должность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9"/>
          <p:cNvSpPr/>
          <p:nvPr/>
        </p:nvSpPr>
        <p:spPr>
          <a:xfrm>
            <a:off x="8321040" y="195696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20"/>
          <p:cNvSpPr/>
          <p:nvPr/>
        </p:nvSpPr>
        <p:spPr>
          <a:xfrm>
            <a:off x="228600" y="2477880"/>
            <a:ext cx="8686440" cy="511560"/>
          </a:xfrm>
          <a:prstGeom prst="rect">
            <a:avLst/>
          </a:prstGeom>
          <a:solidFill>
            <a:srgbClr val="f0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21"/>
          <p:cNvSpPr/>
          <p:nvPr/>
        </p:nvSpPr>
        <p:spPr>
          <a:xfrm>
            <a:off x="274320" y="2551320"/>
            <a:ext cx="365400" cy="36540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22"/>
          <p:cNvSpPr/>
          <p:nvPr/>
        </p:nvSpPr>
        <p:spPr>
          <a:xfrm>
            <a:off x="274320" y="2551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23"/>
          <p:cNvSpPr/>
          <p:nvPr/>
        </p:nvSpPr>
        <p:spPr>
          <a:xfrm>
            <a:off x="731520" y="253296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Поиск контакта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24"/>
          <p:cNvSpPr/>
          <p:nvPr/>
        </p:nvSpPr>
        <p:spPr>
          <a:xfrm>
            <a:off x="3931920" y="2532960"/>
            <a:ext cx="4297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Список фильтруется в реальном времени при вводе запроса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25"/>
          <p:cNvSpPr/>
          <p:nvPr/>
        </p:nvSpPr>
        <p:spPr>
          <a:xfrm>
            <a:off x="8321040" y="253296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26"/>
          <p:cNvSpPr/>
          <p:nvPr/>
        </p:nvSpPr>
        <p:spPr>
          <a:xfrm>
            <a:off x="228600" y="3054240"/>
            <a:ext cx="8686440" cy="511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27"/>
          <p:cNvSpPr/>
          <p:nvPr/>
        </p:nvSpPr>
        <p:spPr>
          <a:xfrm>
            <a:off x="274320" y="3127320"/>
            <a:ext cx="365400" cy="36540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Text 28"/>
          <p:cNvSpPr/>
          <p:nvPr/>
        </p:nvSpPr>
        <p:spPr>
          <a:xfrm>
            <a:off x="274320" y="3127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05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29"/>
          <p:cNvSpPr/>
          <p:nvPr/>
        </p:nvSpPr>
        <p:spPr>
          <a:xfrm>
            <a:off x="731520" y="310896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Редактирование контакта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30"/>
          <p:cNvSpPr/>
          <p:nvPr/>
        </p:nvSpPr>
        <p:spPr>
          <a:xfrm>
            <a:off x="3931920" y="3108960"/>
            <a:ext cx="4297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Форма заполняется текущими данными, изменения сохраняются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31"/>
          <p:cNvSpPr/>
          <p:nvPr/>
        </p:nvSpPr>
        <p:spPr>
          <a:xfrm>
            <a:off x="8321040" y="310896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32"/>
          <p:cNvSpPr/>
          <p:nvPr/>
        </p:nvSpPr>
        <p:spPr>
          <a:xfrm>
            <a:off x="228600" y="3630240"/>
            <a:ext cx="8686440" cy="511560"/>
          </a:xfrm>
          <a:prstGeom prst="rect">
            <a:avLst/>
          </a:prstGeom>
          <a:solidFill>
            <a:srgbClr val="f0f4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33"/>
          <p:cNvSpPr/>
          <p:nvPr/>
        </p:nvSpPr>
        <p:spPr>
          <a:xfrm>
            <a:off x="274320" y="3703320"/>
            <a:ext cx="365400" cy="36540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Text 34"/>
          <p:cNvSpPr/>
          <p:nvPr/>
        </p:nvSpPr>
        <p:spPr>
          <a:xfrm>
            <a:off x="274320" y="3703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06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35"/>
          <p:cNvSpPr/>
          <p:nvPr/>
        </p:nvSpPr>
        <p:spPr>
          <a:xfrm>
            <a:off x="731520" y="368496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Удаление контакта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36"/>
          <p:cNvSpPr/>
          <p:nvPr/>
        </p:nvSpPr>
        <p:spPr>
          <a:xfrm>
            <a:off x="3931920" y="3684960"/>
            <a:ext cx="4297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Появляется диалог подтверждения, контакт удаляется из списка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37"/>
          <p:cNvSpPr/>
          <p:nvPr/>
        </p:nvSpPr>
        <p:spPr>
          <a:xfrm>
            <a:off x="8321040" y="368496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8"/>
          <p:cNvSpPr/>
          <p:nvPr/>
        </p:nvSpPr>
        <p:spPr>
          <a:xfrm>
            <a:off x="228600" y="4206240"/>
            <a:ext cx="8686440" cy="511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9"/>
          <p:cNvSpPr/>
          <p:nvPr/>
        </p:nvSpPr>
        <p:spPr>
          <a:xfrm>
            <a:off x="274320" y="4279320"/>
            <a:ext cx="365400" cy="365400"/>
          </a:xfrm>
          <a:prstGeom prst="ellipse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40"/>
          <p:cNvSpPr/>
          <p:nvPr/>
        </p:nvSpPr>
        <p:spPr>
          <a:xfrm>
            <a:off x="274320" y="4279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07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 41"/>
          <p:cNvSpPr/>
          <p:nvPr/>
        </p:nvSpPr>
        <p:spPr>
          <a:xfrm>
            <a:off x="731520" y="4260960"/>
            <a:ext cx="310860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2d3748"/>
                </a:solidFill>
                <a:latin typeface="Arial"/>
                <a:ea typeface="Arial"/>
              </a:rPr>
              <a:t>Перезапуск приложения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42"/>
          <p:cNvSpPr/>
          <p:nvPr/>
        </p:nvSpPr>
        <p:spPr>
          <a:xfrm>
            <a:off x="3931920" y="4260960"/>
            <a:ext cx="4297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Все контакты загружаются из файла contacts.json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Text 43"/>
          <p:cNvSpPr/>
          <p:nvPr/>
        </p:nvSpPr>
        <p:spPr>
          <a:xfrm>
            <a:off x="8321040" y="4260960"/>
            <a:ext cx="4568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44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45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Контактная книга • Тестирование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0"/>
          <p:cNvSpPr/>
          <p:nvPr/>
        </p:nvSpPr>
        <p:spPr>
          <a:xfrm>
            <a:off x="0" y="0"/>
            <a:ext cx="9143640" cy="63972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365760" y="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Цель и актуальность проекта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2"/>
          <p:cNvSpPr/>
          <p:nvPr/>
        </p:nvSpPr>
        <p:spPr>
          <a:xfrm>
            <a:off x="365760" y="822960"/>
            <a:ext cx="402300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365760" y="822960"/>
            <a:ext cx="4023000" cy="72720"/>
          </a:xfrm>
          <a:prstGeom prst="rect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365760" y="9601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d3748"/>
                </a:solidFill>
                <a:latin typeface="Arial"/>
                <a:ea typeface="Arial"/>
              </a:rPr>
              <a:t>🎯  </a:t>
            </a:r>
            <a:r>
              <a:rPr b="1" lang="ru-RU" sz="1400" spc="-1" strike="noStrike">
                <a:solidFill>
                  <a:srgbClr val="2d3748"/>
                </a:solidFill>
                <a:latin typeface="Arial"/>
                <a:ea typeface="Arial"/>
              </a:rPr>
              <a:t>Главная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502920" y="1508760"/>
            <a:ext cx="37486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3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5" name="Shape 6"/>
          <p:cNvSpPr/>
          <p:nvPr/>
        </p:nvSpPr>
        <p:spPr>
          <a:xfrm>
            <a:off x="4754880" y="822960"/>
            <a:ext cx="4023000" cy="3474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101520" dir="8100000" dist="37674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7"/>
          <p:cNvSpPr/>
          <p:nvPr/>
        </p:nvSpPr>
        <p:spPr>
          <a:xfrm>
            <a:off x="4754880" y="822960"/>
            <a:ext cx="4023000" cy="72720"/>
          </a:xfrm>
          <a:prstGeom prst="rect">
            <a:avLst/>
          </a:prstGeom>
          <a:solidFill>
            <a:srgbClr val="48b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4754880" y="960120"/>
            <a:ext cx="4023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d3748"/>
                </a:solidFill>
                <a:latin typeface="Arial"/>
                <a:ea typeface="Arial"/>
              </a:rPr>
              <a:t>  </a:t>
            </a:r>
            <a:r>
              <a:rPr b="1" lang="ru-RU" sz="1400" spc="-1" strike="noStrike">
                <a:solidFill>
                  <a:srgbClr val="2d3748"/>
                </a:solidFill>
                <a:latin typeface="Arial"/>
                <a:ea typeface="Arial"/>
              </a:rPr>
              <a:t>Редактировать</a:t>
            </a: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9"/>
          <p:cNvSpPr/>
          <p:nvPr/>
        </p:nvSpPr>
        <p:spPr>
          <a:xfrm>
            <a:off x="4892040" y="1508760"/>
            <a:ext cx="37486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9" name="Shape 10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2d37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rIns="101520" tIns="101520" bIns="10152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718096"/>
                </a:solidFill>
                <a:latin typeface="Arial"/>
                <a:ea typeface="Arial"/>
              </a:rPr>
              <a:t>Контактная книга • Цель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1" name="Рисунок 14" descr=""/>
          <p:cNvPicPr/>
          <p:nvPr/>
        </p:nvPicPr>
        <p:blipFill>
          <a:blip r:embed="rId1"/>
          <a:stretch/>
        </p:blipFill>
        <p:spPr>
          <a:xfrm>
            <a:off x="644040" y="1337400"/>
            <a:ext cx="3466440" cy="2902680"/>
          </a:xfrm>
          <a:prstGeom prst="rect">
            <a:avLst/>
          </a:prstGeom>
          <a:ln w="0">
            <a:noFill/>
          </a:ln>
        </p:spPr>
      </p:pic>
      <p:pic>
        <p:nvPicPr>
          <p:cNvPr id="222" name="Рисунок 16" descr=""/>
          <p:cNvPicPr/>
          <p:nvPr/>
        </p:nvPicPr>
        <p:blipFill>
          <a:blip r:embed="rId2"/>
          <a:stretch/>
        </p:blipFill>
        <p:spPr>
          <a:xfrm>
            <a:off x="4976280" y="1296000"/>
            <a:ext cx="3579840" cy="2944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0"/>
          <p:cNvSpPr/>
          <p:nvPr/>
        </p:nvSpPr>
        <p:spPr>
          <a:xfrm>
            <a:off x="0" y="0"/>
            <a:ext cx="9143640" cy="62136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274320" y="0"/>
            <a:ext cx="859500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Сравнительный анализ приложения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2"/>
          <p:cNvSpPr/>
          <p:nvPr/>
        </p:nvSpPr>
        <p:spPr>
          <a:xfrm>
            <a:off x="73080" y="658440"/>
            <a:ext cx="1919880" cy="34704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3"/>
          <p:cNvSpPr/>
          <p:nvPr/>
        </p:nvSpPr>
        <p:spPr>
          <a:xfrm>
            <a:off x="73080" y="65844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Критерий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4"/>
          <p:cNvSpPr/>
          <p:nvPr/>
        </p:nvSpPr>
        <p:spPr>
          <a:xfrm>
            <a:off x="2030040" y="658440"/>
            <a:ext cx="2102760" cy="34704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5"/>
          <p:cNvSpPr/>
          <p:nvPr/>
        </p:nvSpPr>
        <p:spPr>
          <a:xfrm>
            <a:off x="2030040" y="65844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Google Contacts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6"/>
          <p:cNvSpPr/>
          <p:nvPr/>
        </p:nvSpPr>
        <p:spPr>
          <a:xfrm>
            <a:off x="4169520" y="658440"/>
            <a:ext cx="2102760" cy="34704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4169520" y="65844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Телефонная книга iOS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8"/>
          <p:cNvSpPr/>
          <p:nvPr/>
        </p:nvSpPr>
        <p:spPr>
          <a:xfrm>
            <a:off x="6309360" y="658440"/>
            <a:ext cx="2761200" cy="34704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9"/>
          <p:cNvSpPr/>
          <p:nvPr/>
        </p:nvSpPr>
        <p:spPr>
          <a:xfrm>
            <a:off x="6309360" y="658440"/>
            <a:ext cx="2761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Наша Контактная книга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0"/>
          <p:cNvSpPr/>
          <p:nvPr/>
        </p:nvSpPr>
        <p:spPr>
          <a:xfrm>
            <a:off x="73080" y="103320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1"/>
          <p:cNvSpPr/>
          <p:nvPr/>
        </p:nvSpPr>
        <p:spPr>
          <a:xfrm>
            <a:off x="73080" y="103320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Платформа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2"/>
          <p:cNvSpPr/>
          <p:nvPr/>
        </p:nvSpPr>
        <p:spPr>
          <a:xfrm>
            <a:off x="2030040" y="103320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3"/>
          <p:cNvSpPr/>
          <p:nvPr/>
        </p:nvSpPr>
        <p:spPr>
          <a:xfrm>
            <a:off x="2030040" y="103320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Веб (онлайн)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4"/>
          <p:cNvSpPr/>
          <p:nvPr/>
        </p:nvSpPr>
        <p:spPr>
          <a:xfrm>
            <a:off x="4169520" y="103320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15"/>
          <p:cNvSpPr/>
          <p:nvPr/>
        </p:nvSpPr>
        <p:spPr>
          <a:xfrm>
            <a:off x="4169520" y="103320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iOS / Android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6"/>
          <p:cNvSpPr/>
          <p:nvPr/>
        </p:nvSpPr>
        <p:spPr>
          <a:xfrm>
            <a:off x="6309360" y="1033200"/>
            <a:ext cx="2761200" cy="356400"/>
          </a:xfrm>
          <a:prstGeom prst="rect">
            <a:avLst/>
          </a:prstGeom>
          <a:solidFill>
            <a:srgbClr val="e8f8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17"/>
          <p:cNvSpPr/>
          <p:nvPr/>
        </p:nvSpPr>
        <p:spPr>
          <a:xfrm>
            <a:off x="6309360" y="103320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Десктоп (офлайн)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8"/>
          <p:cNvSpPr/>
          <p:nvPr/>
        </p:nvSpPr>
        <p:spPr>
          <a:xfrm>
            <a:off x="73080" y="141732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19"/>
          <p:cNvSpPr/>
          <p:nvPr/>
        </p:nvSpPr>
        <p:spPr>
          <a:xfrm>
            <a:off x="73080" y="141732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Требует интернет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0"/>
          <p:cNvSpPr/>
          <p:nvPr/>
        </p:nvSpPr>
        <p:spPr>
          <a:xfrm>
            <a:off x="2030040" y="141732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21"/>
          <p:cNvSpPr/>
          <p:nvPr/>
        </p:nvSpPr>
        <p:spPr>
          <a:xfrm>
            <a:off x="2030040" y="141732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Да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2"/>
          <p:cNvSpPr/>
          <p:nvPr/>
        </p:nvSpPr>
        <p:spPr>
          <a:xfrm>
            <a:off x="4169520" y="141732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23"/>
          <p:cNvSpPr/>
          <p:nvPr/>
        </p:nvSpPr>
        <p:spPr>
          <a:xfrm>
            <a:off x="4169520" y="141732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Да (синхр.)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4"/>
          <p:cNvSpPr/>
          <p:nvPr/>
        </p:nvSpPr>
        <p:spPr>
          <a:xfrm>
            <a:off x="6309360" y="1417320"/>
            <a:ext cx="2761200" cy="356400"/>
          </a:xfrm>
          <a:prstGeom prst="rect">
            <a:avLst/>
          </a:prstGeom>
          <a:solidFill>
            <a:srgbClr val="d5f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5"/>
          <p:cNvSpPr/>
          <p:nvPr/>
        </p:nvSpPr>
        <p:spPr>
          <a:xfrm>
            <a:off x="6309360" y="141732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Нет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6"/>
          <p:cNvSpPr/>
          <p:nvPr/>
        </p:nvSpPr>
        <p:spPr>
          <a:xfrm>
            <a:off x="73080" y="180144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27"/>
          <p:cNvSpPr/>
          <p:nvPr/>
        </p:nvSpPr>
        <p:spPr>
          <a:xfrm>
            <a:off x="73080" y="180144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Хранение данных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28"/>
          <p:cNvSpPr/>
          <p:nvPr/>
        </p:nvSpPr>
        <p:spPr>
          <a:xfrm>
            <a:off x="2030040" y="180144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29"/>
          <p:cNvSpPr/>
          <p:nvPr/>
        </p:nvSpPr>
        <p:spPr>
          <a:xfrm>
            <a:off x="2030040" y="180144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Google серверы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0"/>
          <p:cNvSpPr/>
          <p:nvPr/>
        </p:nvSpPr>
        <p:spPr>
          <a:xfrm>
            <a:off x="4169520" y="180144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31"/>
          <p:cNvSpPr/>
          <p:nvPr/>
        </p:nvSpPr>
        <p:spPr>
          <a:xfrm>
            <a:off x="4169520" y="180144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iCloud / Google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2"/>
          <p:cNvSpPr/>
          <p:nvPr/>
        </p:nvSpPr>
        <p:spPr>
          <a:xfrm>
            <a:off x="6309360" y="1801440"/>
            <a:ext cx="2761200" cy="356400"/>
          </a:xfrm>
          <a:prstGeom prst="rect">
            <a:avLst/>
          </a:prstGeom>
          <a:solidFill>
            <a:srgbClr val="e8f8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33"/>
          <p:cNvSpPr/>
          <p:nvPr/>
        </p:nvSpPr>
        <p:spPr>
          <a:xfrm>
            <a:off x="6309360" y="180144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Локально (JSON)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34"/>
          <p:cNvSpPr/>
          <p:nvPr/>
        </p:nvSpPr>
        <p:spPr>
          <a:xfrm>
            <a:off x="73080" y="218556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35"/>
          <p:cNvSpPr/>
          <p:nvPr/>
        </p:nvSpPr>
        <p:spPr>
          <a:xfrm>
            <a:off x="73080" y="218556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Конфиденциальность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6"/>
          <p:cNvSpPr/>
          <p:nvPr/>
        </p:nvSpPr>
        <p:spPr>
          <a:xfrm>
            <a:off x="2030040" y="218556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37"/>
          <p:cNvSpPr/>
          <p:nvPr/>
        </p:nvSpPr>
        <p:spPr>
          <a:xfrm>
            <a:off x="2030040" y="218556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Данные у Google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38"/>
          <p:cNvSpPr/>
          <p:nvPr/>
        </p:nvSpPr>
        <p:spPr>
          <a:xfrm>
            <a:off x="4169520" y="218556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39"/>
          <p:cNvSpPr/>
          <p:nvPr/>
        </p:nvSpPr>
        <p:spPr>
          <a:xfrm>
            <a:off x="4169520" y="218556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Данные у Apple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40"/>
          <p:cNvSpPr/>
          <p:nvPr/>
        </p:nvSpPr>
        <p:spPr>
          <a:xfrm>
            <a:off x="6309360" y="2185560"/>
            <a:ext cx="2761200" cy="356400"/>
          </a:xfrm>
          <a:prstGeom prst="rect">
            <a:avLst/>
          </a:prstGeom>
          <a:solidFill>
            <a:srgbClr val="d5f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41"/>
          <p:cNvSpPr/>
          <p:nvPr/>
        </p:nvSpPr>
        <p:spPr>
          <a:xfrm>
            <a:off x="6309360" y="218556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Данные только у вас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42"/>
          <p:cNvSpPr/>
          <p:nvPr/>
        </p:nvSpPr>
        <p:spPr>
          <a:xfrm>
            <a:off x="73080" y="256932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 43"/>
          <p:cNvSpPr/>
          <p:nvPr/>
        </p:nvSpPr>
        <p:spPr>
          <a:xfrm>
            <a:off x="73080" y="256932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Тип контактов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44"/>
          <p:cNvSpPr/>
          <p:nvPr/>
        </p:nvSpPr>
        <p:spPr>
          <a:xfrm>
            <a:off x="2030040" y="256932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45"/>
          <p:cNvSpPr/>
          <p:nvPr/>
        </p:nvSpPr>
        <p:spPr>
          <a:xfrm>
            <a:off x="2030040" y="256932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Один тип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46"/>
          <p:cNvSpPr/>
          <p:nvPr/>
        </p:nvSpPr>
        <p:spPr>
          <a:xfrm>
            <a:off x="4169520" y="256932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47"/>
          <p:cNvSpPr/>
          <p:nvPr/>
        </p:nvSpPr>
        <p:spPr>
          <a:xfrm>
            <a:off x="4169520" y="256932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Один тип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48"/>
          <p:cNvSpPr/>
          <p:nvPr/>
        </p:nvSpPr>
        <p:spPr>
          <a:xfrm>
            <a:off x="6309360" y="2569320"/>
            <a:ext cx="2761200" cy="356400"/>
          </a:xfrm>
          <a:prstGeom prst="rect">
            <a:avLst/>
          </a:prstGeom>
          <a:solidFill>
            <a:srgbClr val="e8f8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49"/>
          <p:cNvSpPr/>
          <p:nvPr/>
        </p:nvSpPr>
        <p:spPr>
          <a:xfrm>
            <a:off x="6309360" y="256932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Личный и Рабочий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50"/>
          <p:cNvSpPr/>
          <p:nvPr/>
        </p:nvSpPr>
        <p:spPr>
          <a:xfrm>
            <a:off x="73080" y="295344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51"/>
          <p:cNvSpPr/>
          <p:nvPr/>
        </p:nvSpPr>
        <p:spPr>
          <a:xfrm>
            <a:off x="73080" y="295344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Открытый код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52"/>
          <p:cNvSpPr/>
          <p:nvPr/>
        </p:nvSpPr>
        <p:spPr>
          <a:xfrm>
            <a:off x="2030040" y="295344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53"/>
          <p:cNvSpPr/>
          <p:nvPr/>
        </p:nvSpPr>
        <p:spPr>
          <a:xfrm>
            <a:off x="2030040" y="295344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Нет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54"/>
          <p:cNvSpPr/>
          <p:nvPr/>
        </p:nvSpPr>
        <p:spPr>
          <a:xfrm>
            <a:off x="4169520" y="295344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55"/>
          <p:cNvSpPr/>
          <p:nvPr/>
        </p:nvSpPr>
        <p:spPr>
          <a:xfrm>
            <a:off x="4169520" y="295344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Нет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56"/>
          <p:cNvSpPr/>
          <p:nvPr/>
        </p:nvSpPr>
        <p:spPr>
          <a:xfrm>
            <a:off x="6309360" y="2953440"/>
            <a:ext cx="2761200" cy="356400"/>
          </a:xfrm>
          <a:prstGeom prst="rect">
            <a:avLst/>
          </a:prstGeom>
          <a:solidFill>
            <a:srgbClr val="d5f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57"/>
          <p:cNvSpPr/>
          <p:nvPr/>
        </p:nvSpPr>
        <p:spPr>
          <a:xfrm>
            <a:off x="6309360" y="295344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Да (полностью)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58"/>
          <p:cNvSpPr/>
          <p:nvPr/>
        </p:nvSpPr>
        <p:spPr>
          <a:xfrm>
            <a:off x="73080" y="333756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59"/>
          <p:cNvSpPr/>
          <p:nvPr/>
        </p:nvSpPr>
        <p:spPr>
          <a:xfrm>
            <a:off x="73080" y="333756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Принципы ООП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60"/>
          <p:cNvSpPr/>
          <p:nvPr/>
        </p:nvSpPr>
        <p:spPr>
          <a:xfrm>
            <a:off x="2030040" y="333756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61"/>
          <p:cNvSpPr/>
          <p:nvPr/>
        </p:nvSpPr>
        <p:spPr>
          <a:xfrm>
            <a:off x="2030040" y="333756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—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62"/>
          <p:cNvSpPr/>
          <p:nvPr/>
        </p:nvSpPr>
        <p:spPr>
          <a:xfrm>
            <a:off x="4169520" y="3337560"/>
            <a:ext cx="2102760" cy="3564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63"/>
          <p:cNvSpPr/>
          <p:nvPr/>
        </p:nvSpPr>
        <p:spPr>
          <a:xfrm>
            <a:off x="4169520" y="333756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—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64"/>
          <p:cNvSpPr/>
          <p:nvPr/>
        </p:nvSpPr>
        <p:spPr>
          <a:xfrm>
            <a:off x="6309360" y="3337560"/>
            <a:ext cx="2761200" cy="356400"/>
          </a:xfrm>
          <a:prstGeom prst="rect">
            <a:avLst/>
          </a:prstGeom>
          <a:solidFill>
            <a:srgbClr val="e8f8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65"/>
          <p:cNvSpPr/>
          <p:nvPr/>
        </p:nvSpPr>
        <p:spPr>
          <a:xfrm>
            <a:off x="6309360" y="333756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Наследование, полиморфизм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66"/>
          <p:cNvSpPr/>
          <p:nvPr/>
        </p:nvSpPr>
        <p:spPr>
          <a:xfrm>
            <a:off x="73080" y="3721680"/>
            <a:ext cx="1919880" cy="356400"/>
          </a:xfrm>
          <a:prstGeom prst="rect">
            <a:avLst/>
          </a:prstGeom>
          <a:solidFill>
            <a:srgbClr val="c0395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67"/>
          <p:cNvSpPr/>
          <p:nvPr/>
        </p:nvSpPr>
        <p:spPr>
          <a:xfrm>
            <a:off x="73080" y="3721680"/>
            <a:ext cx="1919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76320" bIns="7632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Для учебных целей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68"/>
          <p:cNvSpPr/>
          <p:nvPr/>
        </p:nvSpPr>
        <p:spPr>
          <a:xfrm>
            <a:off x="2030040" y="372168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69"/>
          <p:cNvSpPr/>
          <p:nvPr/>
        </p:nvSpPr>
        <p:spPr>
          <a:xfrm>
            <a:off x="2030040" y="372168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Нет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70"/>
          <p:cNvSpPr/>
          <p:nvPr/>
        </p:nvSpPr>
        <p:spPr>
          <a:xfrm>
            <a:off x="4169520" y="3721680"/>
            <a:ext cx="2102760" cy="356400"/>
          </a:xfrm>
          <a:prstGeom prst="rect">
            <a:avLst/>
          </a:prstGeom>
          <a:solidFill>
            <a:srgbClr val="f5e6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 71"/>
          <p:cNvSpPr/>
          <p:nvPr/>
        </p:nvSpPr>
        <p:spPr>
          <a:xfrm>
            <a:off x="4169520" y="3721680"/>
            <a:ext cx="210276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2d2d2d"/>
                </a:solidFill>
                <a:latin typeface="Arial"/>
                <a:ea typeface="Arial"/>
              </a:rPr>
              <a:t>Нет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72"/>
          <p:cNvSpPr/>
          <p:nvPr/>
        </p:nvSpPr>
        <p:spPr>
          <a:xfrm>
            <a:off x="6309360" y="3721680"/>
            <a:ext cx="2761200" cy="356400"/>
          </a:xfrm>
          <a:prstGeom prst="rect">
            <a:avLst/>
          </a:prstGeom>
          <a:solidFill>
            <a:srgbClr val="d5f0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Text 73"/>
          <p:cNvSpPr/>
          <p:nvPr/>
        </p:nvSpPr>
        <p:spPr>
          <a:xfrm>
            <a:off x="6309360" y="3721680"/>
            <a:ext cx="27612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0760" rIns="50760" t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a5c35"/>
                </a:solidFill>
                <a:latin typeface="Arial"/>
                <a:ea typeface="Arial"/>
              </a:rPr>
              <a:t>Да (идеально)</a:t>
            </a:r>
            <a:endParaRPr b="0" lang="ru-RU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74"/>
          <p:cNvSpPr/>
          <p:nvPr/>
        </p:nvSpPr>
        <p:spPr>
          <a:xfrm>
            <a:off x="6291000" y="640080"/>
            <a:ext cx="2797560" cy="3465360"/>
          </a:xfrm>
          <a:prstGeom prst="rect">
            <a:avLst/>
          </a:prstGeom>
          <a:noFill/>
          <a:ln w="31750">
            <a:solidFill>
              <a:srgbClr val="27ae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75"/>
          <p:cNvSpPr/>
          <p:nvPr/>
        </p:nvSpPr>
        <p:spPr>
          <a:xfrm>
            <a:off x="0" y="4827960"/>
            <a:ext cx="9143640" cy="315000"/>
          </a:xfrm>
          <a:prstGeom prst="rect">
            <a:avLst/>
          </a:prstGeom>
          <a:solidFill>
            <a:srgbClr val="1a202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76"/>
          <p:cNvSpPr/>
          <p:nvPr/>
        </p:nvSpPr>
        <p:spPr>
          <a:xfrm>
            <a:off x="274320" y="4827960"/>
            <a:ext cx="859500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✅  </a:t>
            </a:r>
            <a:r>
              <a:rPr b="1" lang="en-US" sz="1000" spc="-1" strike="noStrike">
                <a:solidFill>
                  <a:srgbClr val="ffffff"/>
                </a:solidFill>
                <a:latin typeface="Arial"/>
                <a:ea typeface="Arial"/>
              </a:rPr>
              <a:t>Наше приложение превосходит аналоги по ключевым учебным критериям</a:t>
            </a: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20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0"/>
          <p:cNvSpPr/>
          <p:nvPr/>
        </p:nvSpPr>
        <p:spPr>
          <a:xfrm>
            <a:off x="0" y="0"/>
            <a:ext cx="109440" cy="5143320"/>
          </a:xfrm>
          <a:prstGeom prst="rect">
            <a:avLst/>
          </a:prstGeom>
          <a:solidFill>
            <a:srgbClr val="48bb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1"/>
          <p:cNvSpPr/>
          <p:nvPr/>
        </p:nvSpPr>
        <p:spPr>
          <a:xfrm>
            <a:off x="457200" y="4572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  <a:ea typeface="Arial"/>
              </a:rPr>
              <a:t>Заключение</a:t>
            </a:r>
            <a:endParaRPr b="0" lang="ru-RU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Shape 2"/>
          <p:cNvSpPr/>
          <p:nvPr/>
        </p:nvSpPr>
        <p:spPr>
          <a:xfrm>
            <a:off x="731520" y="1234440"/>
            <a:ext cx="7680600" cy="548280"/>
          </a:xfrm>
          <a:prstGeom prst="rect">
            <a:avLst/>
          </a:prstGeom>
          <a:solidFill>
            <a:srgbClr val="2530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 3"/>
          <p:cNvSpPr/>
          <p:nvPr/>
        </p:nvSpPr>
        <p:spPr>
          <a:xfrm>
            <a:off x="777240" y="123444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 4"/>
          <p:cNvSpPr/>
          <p:nvPr/>
        </p:nvSpPr>
        <p:spPr>
          <a:xfrm>
            <a:off x="1325880" y="1234440"/>
            <a:ext cx="6949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Разработано приложение с графическим интерфейсом на Tkinter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Shape 5"/>
          <p:cNvSpPr/>
          <p:nvPr/>
        </p:nvSpPr>
        <p:spPr>
          <a:xfrm>
            <a:off x="731520" y="1920240"/>
            <a:ext cx="7680600" cy="548280"/>
          </a:xfrm>
          <a:prstGeom prst="rect">
            <a:avLst/>
          </a:prstGeom>
          <a:solidFill>
            <a:srgbClr val="2530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Text 6"/>
          <p:cNvSpPr/>
          <p:nvPr/>
        </p:nvSpPr>
        <p:spPr>
          <a:xfrm>
            <a:off x="777240" y="192024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 7"/>
          <p:cNvSpPr/>
          <p:nvPr/>
        </p:nvSpPr>
        <p:spPr>
          <a:xfrm>
            <a:off x="1325880" y="1920240"/>
            <a:ext cx="6949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Применены принципы ООП: наследование, полиморфизм, инкапсуляция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8"/>
          <p:cNvSpPr/>
          <p:nvPr/>
        </p:nvSpPr>
        <p:spPr>
          <a:xfrm>
            <a:off x="731520" y="2606040"/>
            <a:ext cx="7680600" cy="548280"/>
          </a:xfrm>
          <a:prstGeom prst="rect">
            <a:avLst/>
          </a:prstGeom>
          <a:solidFill>
            <a:srgbClr val="2530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9"/>
          <p:cNvSpPr/>
          <p:nvPr/>
        </p:nvSpPr>
        <p:spPr>
          <a:xfrm>
            <a:off x="777240" y="260604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10"/>
          <p:cNvSpPr/>
          <p:nvPr/>
        </p:nvSpPr>
        <p:spPr>
          <a:xfrm>
            <a:off x="1325880" y="2606040"/>
            <a:ext cx="6949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Код разбит на 5 модулей по принципу единственной ответственности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11"/>
          <p:cNvSpPr/>
          <p:nvPr/>
        </p:nvSpPr>
        <p:spPr>
          <a:xfrm>
            <a:off x="731520" y="3291840"/>
            <a:ext cx="7680600" cy="548280"/>
          </a:xfrm>
          <a:prstGeom prst="rect">
            <a:avLst/>
          </a:prstGeom>
          <a:solidFill>
            <a:srgbClr val="2530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 12"/>
          <p:cNvSpPr/>
          <p:nvPr/>
        </p:nvSpPr>
        <p:spPr>
          <a:xfrm>
            <a:off x="777240" y="329184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13"/>
          <p:cNvSpPr/>
          <p:nvPr/>
        </p:nvSpPr>
        <p:spPr>
          <a:xfrm>
            <a:off x="1325880" y="3291840"/>
            <a:ext cx="6949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Данные сохраняются и загружаются через изолированный класс FileStorage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14"/>
          <p:cNvSpPr/>
          <p:nvPr/>
        </p:nvSpPr>
        <p:spPr>
          <a:xfrm>
            <a:off x="731520" y="3977640"/>
            <a:ext cx="7680600" cy="548280"/>
          </a:xfrm>
          <a:prstGeom prst="rect">
            <a:avLst/>
          </a:prstGeom>
          <a:solidFill>
            <a:srgbClr val="25304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15"/>
          <p:cNvSpPr/>
          <p:nvPr/>
        </p:nvSpPr>
        <p:spPr>
          <a:xfrm>
            <a:off x="777240" y="3977640"/>
            <a:ext cx="456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Arial"/>
              </a:rPr>
              <a:t>✅</a:t>
            </a:r>
            <a:endParaRPr b="0" lang="ru-RU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16"/>
          <p:cNvSpPr/>
          <p:nvPr/>
        </p:nvSpPr>
        <p:spPr>
          <a:xfrm>
            <a:off x="1325880" y="3977640"/>
            <a:ext cx="6949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Все 7 сценариев использования успешно протестированы</a:t>
            </a:r>
            <a:endParaRPr b="0" lang="ru-RU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17"/>
          <p:cNvSpPr/>
          <p:nvPr/>
        </p:nvSpPr>
        <p:spPr>
          <a:xfrm>
            <a:off x="731520" y="4572000"/>
            <a:ext cx="7680600" cy="365400"/>
          </a:xfrm>
          <a:prstGeom prst="rect">
            <a:avLst/>
          </a:prstGeom>
          <a:solidFill>
            <a:srgbClr val="4299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18"/>
          <p:cNvSpPr/>
          <p:nvPr/>
        </p:nvSpPr>
        <p:spPr>
          <a:xfrm>
            <a:off x="731520" y="4572000"/>
            <a:ext cx="7680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rial"/>
                <a:ea typeface="Arial"/>
              </a:rPr>
              <a:t>Спасибо за внимание! Проект готов к защите.</a:t>
            </a:r>
            <a:endParaRPr b="0" lang="ru-RU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Application>LibreOffice/24.2.3.2$Linux_X86_64 LibreOffice_project/420$Build-2</Application>
  <AppVersion>15.0000</AppVersion>
  <Words>534</Words>
  <Paragraphs>185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2026-05-14T00:09:22Z</dcterms:created>
  <dc:creator>PptxGenJS</dc:creator>
  <dc:description/>
  <dc:language>ru-RU</dc:language>
  <cp:lastModifiedBy/>
  <dcterms:modified xsi:type="dcterms:W3CDTF">2026-05-14T13:52:36Z</dcterms:modified>
  <cp:revision>8</cp:revision>
  <dc:subject>PptxGenJS Presentation</dc:subject>
  <dc:title>Контактная книга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Экран (16:9)</vt:lpwstr>
  </property>
  <property fmtid="{D5CDD505-2E9C-101B-9397-08002B2CF9AE}" pid="4" name="Slides">
    <vt:i4>9</vt:i4>
  </property>
</Properties>
</file>