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4" r:id="rId4"/>
    <p:sldId id="258" r:id="rId5"/>
    <p:sldId id="259" r:id="rId6"/>
    <p:sldId id="263" r:id="rId7"/>
    <p:sldId id="260" r:id="rId8"/>
    <p:sldId id="261" r:id="rId9"/>
    <p:sldId id="262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без заголовка" id="{30FB5074-84E5-4DD3-82D9-4D1191B94DE7}">
          <p14:sldIdLst>
            <p14:sldId id="256"/>
          </p14:sldIdLst>
        </p14:section>
        <p14:section name="Раздел без заголовка" id="{7000CE9A-7AD7-4C0D-81E2-665BC04F570D}">
          <p14:sldIdLst>
            <p14:sldId id="257"/>
            <p14:sldId id="264"/>
            <p14:sldId id="258"/>
            <p14:sldId id="259"/>
            <p14:sldId id="263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2927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31A02-8FE7-E896-6D2B-982F9BE3A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25DE8D-ADDF-06E7-4F57-B5714F91AF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0187B3-68C0-3170-A413-32408493EC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7A7FBF-C3C5-E99F-288C-89E2C2BA3C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6098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030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📒 Контактная книга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 err="1">
                <a:solidFill>
                  <a:srgbClr val="BE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Настольное</a:t>
            </a:r>
            <a:r>
              <a:rPr lang="en-US" sz="1800" dirty="0">
                <a:solidFill>
                  <a:srgbClr val="BE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приложение для управления контактами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0" y="3063240"/>
            <a:ext cx="2743200" cy="36576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3383280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2D3748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33832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E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🐍  Python 3 + Tkinter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0" y="3383280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2D3748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0" y="33832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E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🗂️  ООП архитектура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3383280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2D3748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33832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E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  JSON хранилище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 проекта • 202</a:t>
            </a:r>
            <a:r>
              <a:rPr lang="ru-RU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B4D0E76-6897-0D47-6273-787B3932E77E}"/>
              </a:ext>
            </a:extLst>
          </p:cNvPr>
          <p:cNvSpPr/>
          <p:nvPr/>
        </p:nvSpPr>
        <p:spPr>
          <a:xfrm>
            <a:off x="1790113" y="596119"/>
            <a:ext cx="5563773" cy="63093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dirty="0" err="1">
                <a:latin typeface="Arial Black" panose="020B0A04020102020204" pitchFamily="34" charset="0"/>
              </a:rPr>
              <a:t>Мухаммаджонов</a:t>
            </a:r>
            <a:r>
              <a:rPr lang="ru-RU" dirty="0">
                <a:latin typeface="Arial Black" panose="020B0A04020102020204" pitchFamily="34" charset="0"/>
              </a:rPr>
              <a:t> </a:t>
            </a:r>
            <a:r>
              <a:rPr lang="ru-RU" dirty="0" err="1">
                <a:latin typeface="Arial Black" panose="020B0A04020102020204" pitchFamily="34" charset="0"/>
              </a:rPr>
              <a:t>Фйзулло</a:t>
            </a:r>
            <a:r>
              <a:rPr lang="ru-RU" dirty="0">
                <a:latin typeface="Arial Black" panose="020B0A04020102020204" pitchFamily="34" charset="0"/>
              </a:rPr>
              <a:t> </a:t>
            </a:r>
          </a:p>
          <a:p>
            <a:pPr algn="ctr"/>
            <a:r>
              <a:rPr lang="ru-RU" dirty="0" err="1">
                <a:latin typeface="Arial Black" panose="020B0A04020102020204" pitchFamily="34" charset="0"/>
              </a:rPr>
              <a:t>Гуруппа</a:t>
            </a:r>
            <a:r>
              <a:rPr lang="ru-RU" dirty="0">
                <a:latin typeface="Arial Black" panose="020B0A04020102020204" pitchFamily="34" charset="0"/>
              </a:rPr>
              <a:t> 4.407-1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и актуальность проекта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02336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4023360" cy="73152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601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Цель проекта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Разработать удобное графическое приложение для хранения, поиска и управления личными и рабочими контактами с сохранением данных на диск.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822960"/>
            <a:ext cx="402336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822960"/>
            <a:ext cx="4023360" cy="73152"/>
          </a:xfrm>
          <a:prstGeom prst="rect">
            <a:avLst/>
          </a:prstGeom>
          <a:solidFill>
            <a:srgbClr val="48BB78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9601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Актуальность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50876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4299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Существующие адресные книги привязаны к облаку
</a:t>
            </a:r>
            <a:r>
              <a:rPr lang="en-US" sz="1200" b="1" dirty="0">
                <a:solidFill>
                  <a:srgbClr val="4299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удобного автономного решения
</a:t>
            </a:r>
            <a:r>
              <a:rPr lang="en-US" sz="1200" b="1" dirty="0">
                <a:solidFill>
                  <a:srgbClr val="4299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Приложение работает без интернета
</a:t>
            </a:r>
            <a:r>
              <a:rPr lang="en-US" sz="1200" b="1" dirty="0">
                <a:solidFill>
                  <a:srgbClr val="4299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хранятся локально и защищены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3" name="Text 1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Контактная книга • Цель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97B36-425C-8499-3EB9-CA3D21B90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6D4284E-5A62-0CC5-4A62-3981DA9DE82F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EBE00B0-7162-043A-C1AF-7A946FBB3F7A}"/>
              </a:ext>
            </a:extLst>
          </p:cNvPr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и актуальность проекта</a:t>
            </a:r>
            <a:endParaRPr lang="en-US" sz="2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A2C9E06-A0B6-ED7D-9A0C-51ADB30B4B1E}"/>
              </a:ext>
            </a:extLst>
          </p:cNvPr>
          <p:cNvSpPr/>
          <p:nvPr/>
        </p:nvSpPr>
        <p:spPr>
          <a:xfrm>
            <a:off x="365760" y="822960"/>
            <a:ext cx="402336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0EADEF7-1DEC-7BB4-907B-A15E2C9436C7}"/>
              </a:ext>
            </a:extLst>
          </p:cNvPr>
          <p:cNvSpPr/>
          <p:nvPr/>
        </p:nvSpPr>
        <p:spPr>
          <a:xfrm>
            <a:off x="365760" y="822960"/>
            <a:ext cx="4023360" cy="73152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D41E32B-143C-06A7-84B0-298DCBF58A54}"/>
              </a:ext>
            </a:extLst>
          </p:cNvPr>
          <p:cNvSpPr/>
          <p:nvPr/>
        </p:nvSpPr>
        <p:spPr>
          <a:xfrm>
            <a:off x="365760" y="9601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</a:t>
            </a:r>
            <a:r>
              <a:rPr lang="ru-RU" sz="1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Главная</a:t>
            </a:r>
            <a:endParaRPr lang="en-US" sz="1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B9EECD5-0CE9-137C-64F1-F268BE87EACC}"/>
              </a:ext>
            </a:extLst>
          </p:cNvPr>
          <p:cNvSpPr/>
          <p:nvPr/>
        </p:nvSpPr>
        <p:spPr>
          <a:xfrm>
            <a:off x="502920" y="150876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7DE01FF-6D56-45BB-0A86-FCE633E8D726}"/>
              </a:ext>
            </a:extLst>
          </p:cNvPr>
          <p:cNvSpPr/>
          <p:nvPr/>
        </p:nvSpPr>
        <p:spPr>
          <a:xfrm>
            <a:off x="4754880" y="822960"/>
            <a:ext cx="402336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522DA088-2519-91C3-1FD2-4501596437BD}"/>
              </a:ext>
            </a:extLst>
          </p:cNvPr>
          <p:cNvSpPr/>
          <p:nvPr/>
        </p:nvSpPr>
        <p:spPr>
          <a:xfrm>
            <a:off x="4754880" y="822960"/>
            <a:ext cx="4023360" cy="73152"/>
          </a:xfrm>
          <a:prstGeom prst="rect">
            <a:avLst/>
          </a:prstGeom>
          <a:solidFill>
            <a:srgbClr val="48BB78"/>
          </a:solidFill>
          <a:ln/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192CEF8-E23F-2664-475C-38950A85193A}"/>
              </a:ext>
            </a:extLst>
          </p:cNvPr>
          <p:cNvSpPr/>
          <p:nvPr/>
        </p:nvSpPr>
        <p:spPr>
          <a:xfrm>
            <a:off x="4754880" y="9601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ru-RU" sz="1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Редактировать</a:t>
            </a:r>
            <a:endParaRPr lang="en-US" sz="14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D718460-6574-DF66-9024-2D1480B831ED}"/>
              </a:ext>
            </a:extLst>
          </p:cNvPr>
          <p:cNvSpPr/>
          <p:nvPr/>
        </p:nvSpPr>
        <p:spPr>
          <a:xfrm>
            <a:off x="4892040" y="150876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DA1A365C-92E0-BC47-C59E-EA654F35E810}"/>
              </a:ext>
            </a:extLst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29BCCEC-F2EF-C7CE-0F6C-94B9B6ED87BF}"/>
              </a:ext>
            </a:extLst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Контактная книга • Цель</a:t>
            </a:r>
            <a:endParaRPr lang="en-US" sz="900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1A886CB8-2CB9-6B42-673E-0A4581F73A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085" y="1337377"/>
            <a:ext cx="3466710" cy="2903086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5360F124-77B9-3FD0-2506-8E87E38CAF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6446" y="1296133"/>
            <a:ext cx="3580228" cy="2944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388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Задачи проекта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2743200" cy="54864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987552"/>
            <a:ext cx="384048" cy="384048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9875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987552"/>
            <a:ext cx="2057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Реализовать хранение контактов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двух типов: личных и рабочих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82296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822960"/>
            <a:ext cx="2743200" cy="54864"/>
          </a:xfrm>
          <a:prstGeom prst="rect">
            <a:avLst/>
          </a:prstGeom>
          <a:solidFill>
            <a:srgbClr val="48BB78"/>
          </a:solidFill>
          <a:ln/>
        </p:spPr>
      </p:sp>
      <p:sp>
        <p:nvSpPr>
          <p:cNvPr id="11" name="Shape 9"/>
          <p:cNvSpPr/>
          <p:nvPr/>
        </p:nvSpPr>
        <p:spPr>
          <a:xfrm>
            <a:off x="3337560" y="987552"/>
            <a:ext cx="384048" cy="384048"/>
          </a:xfrm>
          <a:prstGeom prst="ellipse">
            <a:avLst/>
          </a:prstGeom>
          <a:solidFill>
            <a:srgbClr val="48BB78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9875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94760" y="987552"/>
            <a:ext cx="2057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Обеспечить CRUD-операции: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создание, просмотр, редактирование, удаление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82296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822960"/>
            <a:ext cx="2743200" cy="54864"/>
          </a:xfrm>
          <a:prstGeom prst="rect">
            <a:avLst/>
          </a:prstGeom>
          <a:solidFill>
            <a:srgbClr val="9F7AEA"/>
          </a:solidFill>
          <a:ln/>
        </p:spPr>
      </p:sp>
      <p:sp>
        <p:nvSpPr>
          <p:cNvPr id="16" name="Shape 14"/>
          <p:cNvSpPr/>
          <p:nvPr/>
        </p:nvSpPr>
        <p:spPr>
          <a:xfrm>
            <a:off x="6263640" y="987552"/>
            <a:ext cx="384048" cy="384048"/>
          </a:xfrm>
          <a:prstGeom prst="ellipse">
            <a:avLst/>
          </a:prstGeom>
          <a:solidFill>
            <a:srgbClr val="9F7AEA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9875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20840" y="987552"/>
            <a:ext cx="2057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Реализовать поиск по имени,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фамилии, телефону и email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83464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834640"/>
            <a:ext cx="2743200" cy="54864"/>
          </a:xfrm>
          <a:prstGeom prst="rect">
            <a:avLst/>
          </a:prstGeom>
          <a:solidFill>
            <a:srgbClr val="F6AD55"/>
          </a:solidFill>
          <a:ln/>
        </p:spPr>
      </p:sp>
      <p:sp>
        <p:nvSpPr>
          <p:cNvPr id="21" name="Shape 19"/>
          <p:cNvSpPr/>
          <p:nvPr/>
        </p:nvSpPr>
        <p:spPr>
          <a:xfrm>
            <a:off x="411480" y="2999232"/>
            <a:ext cx="384048" cy="384048"/>
          </a:xfrm>
          <a:prstGeom prst="ellipse">
            <a:avLst/>
          </a:prstGeom>
          <a:solidFill>
            <a:srgbClr val="F6AD55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29992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" y="2999232"/>
            <a:ext cx="2057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Сохранять данные в JSON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между сеансами работы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0" y="283464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834640"/>
            <a:ext cx="2743200" cy="54864"/>
          </a:xfrm>
          <a:prstGeom prst="rect">
            <a:avLst/>
          </a:prstGeom>
          <a:solidFill>
            <a:srgbClr val="FC8181"/>
          </a:solidFill>
          <a:ln/>
        </p:spPr>
      </p:sp>
      <p:sp>
        <p:nvSpPr>
          <p:cNvPr id="26" name="Shape 24"/>
          <p:cNvSpPr/>
          <p:nvPr/>
        </p:nvSpPr>
        <p:spPr>
          <a:xfrm>
            <a:off x="3337560" y="2999232"/>
            <a:ext cx="384048" cy="384048"/>
          </a:xfrm>
          <a:prstGeom prst="ellipse">
            <a:avLst/>
          </a:prstGeom>
          <a:solidFill>
            <a:srgbClr val="FC8181"/>
          </a:solidFill>
          <a:ln/>
        </p:spPr>
      </p:sp>
      <p:sp>
        <p:nvSpPr>
          <p:cNvPr id="27" name="Text 25"/>
          <p:cNvSpPr/>
          <p:nvPr/>
        </p:nvSpPr>
        <p:spPr>
          <a:xfrm>
            <a:off x="3337560" y="29992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794760" y="2999232"/>
            <a:ext cx="2057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Разработать GUI на Tkinter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консольного ввода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283464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2834640"/>
            <a:ext cx="2743200" cy="54864"/>
          </a:xfrm>
          <a:prstGeom prst="rect">
            <a:avLst/>
          </a:prstGeom>
          <a:solidFill>
            <a:srgbClr val="4FD1C5"/>
          </a:solidFill>
          <a:ln/>
        </p:spPr>
      </p:sp>
      <p:sp>
        <p:nvSpPr>
          <p:cNvPr id="31" name="Shape 29"/>
          <p:cNvSpPr/>
          <p:nvPr/>
        </p:nvSpPr>
        <p:spPr>
          <a:xfrm>
            <a:off x="6263640" y="2999232"/>
            <a:ext cx="384048" cy="384048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32" name="Text 30"/>
          <p:cNvSpPr/>
          <p:nvPr/>
        </p:nvSpPr>
        <p:spPr>
          <a:xfrm>
            <a:off x="6263640" y="29992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720840" y="2999232"/>
            <a:ext cx="2057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Применить принципы ООП: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наследование, полиморфизм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35" name="Text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Контактная книга • Задачи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 приложения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1600200" cy="2651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777240"/>
            <a:ext cx="1600200" cy="457200"/>
          </a:xfrm>
          <a:prstGeom prst="rect">
            <a:avLst/>
          </a:prstGeom>
          <a:solidFill>
            <a:srgbClr val="9F7AEA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7772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2880" y="1307592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F7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models.py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" y="178308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Модели данных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2880" y="219456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Contact, PersonalContact,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BusinessContact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28800" y="1874520"/>
            <a:ext cx="91440" cy="54864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11" name="Shape 9"/>
          <p:cNvSpPr/>
          <p:nvPr/>
        </p:nvSpPr>
        <p:spPr>
          <a:xfrm>
            <a:off x="1947672" y="777240"/>
            <a:ext cx="1600200" cy="2651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47672" y="777240"/>
            <a:ext cx="1600200" cy="457200"/>
          </a:xfrm>
          <a:prstGeom prst="rect">
            <a:avLst/>
          </a:prstGeom>
          <a:solidFill>
            <a:srgbClr val="F6AD55"/>
          </a:solidFill>
          <a:ln/>
        </p:spPr>
      </p:sp>
      <p:sp>
        <p:nvSpPr>
          <p:cNvPr id="13" name="Text 11"/>
          <p:cNvSpPr/>
          <p:nvPr/>
        </p:nvSpPr>
        <p:spPr>
          <a:xfrm>
            <a:off x="1947672" y="7772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947672" y="1307592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6AD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storage.py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47672" y="178308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Хранилище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947672" y="219456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FileStorage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Чтение/запись JSON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593592" y="1874520"/>
            <a:ext cx="91440" cy="54864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18" name="Shape 16"/>
          <p:cNvSpPr/>
          <p:nvPr/>
        </p:nvSpPr>
        <p:spPr>
          <a:xfrm>
            <a:off x="3712464" y="777240"/>
            <a:ext cx="1600200" cy="2651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12464" y="777240"/>
            <a:ext cx="1600200" cy="457200"/>
          </a:xfrm>
          <a:prstGeom prst="rect">
            <a:avLst/>
          </a:prstGeom>
          <a:solidFill>
            <a:srgbClr val="48BB78"/>
          </a:solidFill>
          <a:ln/>
        </p:spPr>
      </p:sp>
      <p:sp>
        <p:nvSpPr>
          <p:cNvPr id="20" name="Text 18"/>
          <p:cNvSpPr/>
          <p:nvPr/>
        </p:nvSpPr>
        <p:spPr>
          <a:xfrm>
            <a:off x="3712464" y="7772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712464" y="1307592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8B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manager.py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712464" y="178308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Бизнес-логика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712464" y="219456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ContactManager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+ поиск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358384" y="1874520"/>
            <a:ext cx="91440" cy="54864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25" name="Shape 23"/>
          <p:cNvSpPr/>
          <p:nvPr/>
        </p:nvSpPr>
        <p:spPr>
          <a:xfrm>
            <a:off x="5477256" y="777240"/>
            <a:ext cx="1600200" cy="2651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77256" y="777240"/>
            <a:ext cx="1600200" cy="457200"/>
          </a:xfrm>
          <a:prstGeom prst="rect">
            <a:avLst/>
          </a:prstGeom>
          <a:solidFill>
            <a:srgbClr val="FC8181"/>
          </a:solidFill>
          <a:ln/>
        </p:spPr>
      </p:sp>
      <p:sp>
        <p:nvSpPr>
          <p:cNvPr id="27" name="Text 25"/>
          <p:cNvSpPr/>
          <p:nvPr/>
        </p:nvSpPr>
        <p:spPr>
          <a:xfrm>
            <a:off x="5477256" y="7772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477256" y="1307592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C81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dialog.py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77256" y="178308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 ввода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77256" y="219456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ContactDialog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Диалог создания/редакт.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123176" y="1874520"/>
            <a:ext cx="91440" cy="54864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32" name="Shape 30"/>
          <p:cNvSpPr/>
          <p:nvPr/>
        </p:nvSpPr>
        <p:spPr>
          <a:xfrm>
            <a:off x="7242048" y="777240"/>
            <a:ext cx="1600200" cy="2651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242048" y="777240"/>
            <a:ext cx="1600200" cy="457200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34" name="Text 32"/>
          <p:cNvSpPr/>
          <p:nvPr/>
        </p:nvSpPr>
        <p:spPr>
          <a:xfrm>
            <a:off x="7242048" y="7772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242048" y="1307592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299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242048" y="178308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Главное окно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242048" y="219456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ContactApp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Точка входа, UI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82880" y="3657600"/>
            <a:ext cx="8778240" cy="105156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39" name="Text 37"/>
          <p:cNvSpPr/>
          <p:nvPr/>
        </p:nvSpPr>
        <p:spPr>
          <a:xfrm>
            <a:off x="365760" y="37490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E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Применённые принципы ООП: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65760" y="41605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Инкапсуляция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560320" y="41605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🧬 Наследование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754880" y="41605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Полиморфизм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949440" y="41605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🧩 Единая ответственность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45" name="Text 4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Контактная книга • Архитектура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C0395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Сравнительный анализ приложения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" y="658368"/>
            <a:ext cx="1920240" cy="347472"/>
          </a:xfrm>
          <a:prstGeom prst="rect">
            <a:avLst/>
          </a:prstGeom>
          <a:solidFill>
            <a:srgbClr val="C039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" y="658368"/>
            <a:ext cx="19202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Критерий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29968" y="658368"/>
            <a:ext cx="2103120" cy="347472"/>
          </a:xfrm>
          <a:prstGeom prst="rect">
            <a:avLst/>
          </a:prstGeom>
          <a:solidFill>
            <a:srgbClr val="C0395A"/>
          </a:solidFill>
          <a:ln/>
        </p:spPr>
      </p:sp>
      <p:sp>
        <p:nvSpPr>
          <p:cNvPr id="7" name="Text 5"/>
          <p:cNvSpPr/>
          <p:nvPr/>
        </p:nvSpPr>
        <p:spPr>
          <a:xfrm>
            <a:off x="2029968" y="658368"/>
            <a:ext cx="21031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Contacts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69664" y="658368"/>
            <a:ext cx="2103120" cy="347472"/>
          </a:xfrm>
          <a:prstGeom prst="rect">
            <a:avLst/>
          </a:prstGeom>
          <a:solidFill>
            <a:srgbClr val="C0395A"/>
          </a:solidFill>
          <a:ln/>
        </p:spPr>
      </p:sp>
      <p:sp>
        <p:nvSpPr>
          <p:cNvPr id="9" name="Text 7"/>
          <p:cNvSpPr/>
          <p:nvPr/>
        </p:nvSpPr>
        <p:spPr>
          <a:xfrm>
            <a:off x="4169664" y="658368"/>
            <a:ext cx="21031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Телефонная книга iOS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309360" y="658368"/>
            <a:ext cx="2761488" cy="347472"/>
          </a:xfrm>
          <a:prstGeom prst="rect">
            <a:avLst/>
          </a:prstGeom>
          <a:solidFill>
            <a:srgbClr val="C0395A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658368"/>
            <a:ext cx="2761488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Наша Контактная книга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" y="1033272"/>
            <a:ext cx="1920240" cy="356616"/>
          </a:xfrm>
          <a:prstGeom prst="rect">
            <a:avLst/>
          </a:prstGeom>
          <a:solidFill>
            <a:srgbClr val="C0395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" y="1033272"/>
            <a:ext cx="1920240" cy="35661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Платформа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029968" y="1033272"/>
            <a:ext cx="2103120" cy="3566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2029968" y="1033272"/>
            <a:ext cx="2103120" cy="3566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Веб (онлайн)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69664" y="1033272"/>
            <a:ext cx="2103120" cy="3566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169664" y="1033272"/>
            <a:ext cx="2103120" cy="3566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 / Android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309360" y="1033272"/>
            <a:ext cx="2761488" cy="356616"/>
          </a:xfrm>
          <a:prstGeom prst="rect">
            <a:avLst/>
          </a:prstGeom>
          <a:solidFill>
            <a:srgbClr val="E8F8EE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1033272"/>
            <a:ext cx="2761488" cy="3566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5C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Десктоп (офлайн)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152" y="1417320"/>
            <a:ext cx="1920240" cy="356616"/>
          </a:xfrm>
          <a:prstGeom prst="rect">
            <a:avLst/>
          </a:prstGeom>
          <a:solidFill>
            <a:srgbClr val="C0395A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" y="1417320"/>
            <a:ext cx="1920240" cy="35661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Требует интернет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029968" y="1417320"/>
            <a:ext cx="2103120" cy="356616"/>
          </a:xfrm>
          <a:prstGeom prst="rect">
            <a:avLst/>
          </a:prstGeom>
          <a:solidFill>
            <a:srgbClr val="F5E6EA"/>
          </a:solidFill>
          <a:ln/>
        </p:spPr>
      </p:sp>
      <p:sp>
        <p:nvSpPr>
          <p:cNvPr id="23" name="Text 21"/>
          <p:cNvSpPr/>
          <p:nvPr/>
        </p:nvSpPr>
        <p:spPr>
          <a:xfrm>
            <a:off x="2029968" y="1417320"/>
            <a:ext cx="2103120" cy="3566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169664" y="1417320"/>
            <a:ext cx="2103120" cy="356616"/>
          </a:xfrm>
          <a:prstGeom prst="rect">
            <a:avLst/>
          </a:prstGeom>
          <a:solidFill>
            <a:srgbClr val="F5E6EA"/>
          </a:solidFill>
          <a:ln/>
        </p:spPr>
      </p:sp>
      <p:sp>
        <p:nvSpPr>
          <p:cNvPr id="25" name="Text 23"/>
          <p:cNvSpPr/>
          <p:nvPr/>
        </p:nvSpPr>
        <p:spPr>
          <a:xfrm>
            <a:off x="4169664" y="1417320"/>
            <a:ext cx="2103120" cy="3566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 (синхр.)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309360" y="1417320"/>
            <a:ext cx="2761488" cy="356616"/>
          </a:xfrm>
          <a:prstGeom prst="rect">
            <a:avLst/>
          </a:prstGeom>
          <a:solidFill>
            <a:srgbClr val="D5F0E0"/>
          </a:solidFill>
          <a:ln/>
        </p:spPr>
      </p:sp>
      <p:sp>
        <p:nvSpPr>
          <p:cNvPr id="27" name="Text 25"/>
          <p:cNvSpPr/>
          <p:nvPr/>
        </p:nvSpPr>
        <p:spPr>
          <a:xfrm>
            <a:off x="6309360" y="1417320"/>
            <a:ext cx="2761488" cy="3566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5C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3152" y="1801368"/>
            <a:ext cx="1920240" cy="356616"/>
          </a:xfrm>
          <a:prstGeom prst="rect">
            <a:avLst/>
          </a:prstGeom>
          <a:solidFill>
            <a:srgbClr val="C0395A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" y="1801368"/>
            <a:ext cx="1920240" cy="35661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Хранение данных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029968" y="1801368"/>
            <a:ext cx="2103120" cy="3566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2029968" y="1801368"/>
            <a:ext cx="2103120" cy="3566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серверы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69664" y="1801368"/>
            <a:ext cx="2103120" cy="3566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4169664" y="1801368"/>
            <a:ext cx="2103120" cy="3566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iCloud / Google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309360" y="1801368"/>
            <a:ext cx="2761488" cy="356616"/>
          </a:xfrm>
          <a:prstGeom prst="rect">
            <a:avLst/>
          </a:prstGeom>
          <a:solidFill>
            <a:srgbClr val="E8F8EE"/>
          </a:solidFill>
          <a:ln/>
        </p:spPr>
      </p:sp>
      <p:sp>
        <p:nvSpPr>
          <p:cNvPr id="35" name="Text 33"/>
          <p:cNvSpPr/>
          <p:nvPr/>
        </p:nvSpPr>
        <p:spPr>
          <a:xfrm>
            <a:off x="6309360" y="1801368"/>
            <a:ext cx="2761488" cy="3566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5C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Локально (JSON)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3152" y="2185416"/>
            <a:ext cx="1920240" cy="356616"/>
          </a:xfrm>
          <a:prstGeom prst="rect">
            <a:avLst/>
          </a:prstGeom>
          <a:solidFill>
            <a:srgbClr val="C0395A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" y="2185416"/>
            <a:ext cx="1920240" cy="35661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Конфиденциальность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029968" y="2185416"/>
            <a:ext cx="2103120" cy="356616"/>
          </a:xfrm>
          <a:prstGeom prst="rect">
            <a:avLst/>
          </a:prstGeom>
          <a:solidFill>
            <a:srgbClr val="F5E6EA"/>
          </a:solidFill>
          <a:ln/>
        </p:spPr>
      </p:sp>
      <p:sp>
        <p:nvSpPr>
          <p:cNvPr id="39" name="Text 37"/>
          <p:cNvSpPr/>
          <p:nvPr/>
        </p:nvSpPr>
        <p:spPr>
          <a:xfrm>
            <a:off x="2029968" y="2185416"/>
            <a:ext cx="2103120" cy="3566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у Google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169664" y="2185416"/>
            <a:ext cx="2103120" cy="356616"/>
          </a:xfrm>
          <a:prstGeom prst="rect">
            <a:avLst/>
          </a:prstGeom>
          <a:solidFill>
            <a:srgbClr val="F5E6EA"/>
          </a:solidFill>
          <a:ln/>
        </p:spPr>
      </p:sp>
      <p:sp>
        <p:nvSpPr>
          <p:cNvPr id="41" name="Text 39"/>
          <p:cNvSpPr/>
          <p:nvPr/>
        </p:nvSpPr>
        <p:spPr>
          <a:xfrm>
            <a:off x="4169664" y="2185416"/>
            <a:ext cx="2103120" cy="3566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у Apple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309360" y="2185416"/>
            <a:ext cx="2761488" cy="356616"/>
          </a:xfrm>
          <a:prstGeom prst="rect">
            <a:avLst/>
          </a:prstGeom>
          <a:solidFill>
            <a:srgbClr val="D5F0E0"/>
          </a:solidFill>
          <a:ln/>
        </p:spPr>
      </p:sp>
      <p:sp>
        <p:nvSpPr>
          <p:cNvPr id="43" name="Text 41"/>
          <p:cNvSpPr/>
          <p:nvPr/>
        </p:nvSpPr>
        <p:spPr>
          <a:xfrm>
            <a:off x="6309360" y="2185416"/>
            <a:ext cx="2761488" cy="3566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5C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только у вас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3152" y="2569464"/>
            <a:ext cx="1920240" cy="356616"/>
          </a:xfrm>
          <a:prstGeom prst="rect">
            <a:avLst/>
          </a:prstGeom>
          <a:solidFill>
            <a:srgbClr val="C0395A"/>
          </a:solidFill>
          <a:ln/>
        </p:spPr>
      </p:sp>
      <p:sp>
        <p:nvSpPr>
          <p:cNvPr id="45" name="Text 43"/>
          <p:cNvSpPr/>
          <p:nvPr/>
        </p:nvSpPr>
        <p:spPr>
          <a:xfrm>
            <a:off x="73152" y="2569464"/>
            <a:ext cx="1920240" cy="35661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 контактов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029968" y="2569464"/>
            <a:ext cx="2103120" cy="3566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2029968" y="2569464"/>
            <a:ext cx="2103120" cy="3566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тип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169664" y="2569464"/>
            <a:ext cx="2103120" cy="3566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4169664" y="2569464"/>
            <a:ext cx="2103120" cy="3566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тип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309360" y="2569464"/>
            <a:ext cx="2761488" cy="356616"/>
          </a:xfrm>
          <a:prstGeom prst="rect">
            <a:avLst/>
          </a:prstGeom>
          <a:solidFill>
            <a:srgbClr val="E8F8EE"/>
          </a:solidFill>
          <a:ln/>
        </p:spPr>
      </p:sp>
      <p:sp>
        <p:nvSpPr>
          <p:cNvPr id="51" name="Text 49"/>
          <p:cNvSpPr/>
          <p:nvPr/>
        </p:nvSpPr>
        <p:spPr>
          <a:xfrm>
            <a:off x="6309360" y="2569464"/>
            <a:ext cx="2761488" cy="3566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5C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Личный и Рабочий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3152" y="2953512"/>
            <a:ext cx="1920240" cy="356616"/>
          </a:xfrm>
          <a:prstGeom prst="rect">
            <a:avLst/>
          </a:prstGeom>
          <a:solidFill>
            <a:srgbClr val="C0395A"/>
          </a:solidFill>
          <a:ln/>
        </p:spPr>
      </p:sp>
      <p:sp>
        <p:nvSpPr>
          <p:cNvPr id="53" name="Text 51"/>
          <p:cNvSpPr/>
          <p:nvPr/>
        </p:nvSpPr>
        <p:spPr>
          <a:xfrm>
            <a:off x="73152" y="2953512"/>
            <a:ext cx="1920240" cy="35661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Открытый код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029968" y="2953512"/>
            <a:ext cx="2103120" cy="356616"/>
          </a:xfrm>
          <a:prstGeom prst="rect">
            <a:avLst/>
          </a:prstGeom>
          <a:solidFill>
            <a:srgbClr val="F5E6EA"/>
          </a:solidFill>
          <a:ln/>
        </p:spPr>
      </p:sp>
      <p:sp>
        <p:nvSpPr>
          <p:cNvPr id="55" name="Text 53"/>
          <p:cNvSpPr/>
          <p:nvPr/>
        </p:nvSpPr>
        <p:spPr>
          <a:xfrm>
            <a:off x="2029968" y="2953512"/>
            <a:ext cx="2103120" cy="3566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169664" y="2953512"/>
            <a:ext cx="2103120" cy="356616"/>
          </a:xfrm>
          <a:prstGeom prst="rect">
            <a:avLst/>
          </a:prstGeom>
          <a:solidFill>
            <a:srgbClr val="F5E6EA"/>
          </a:solidFill>
          <a:ln/>
        </p:spPr>
      </p:sp>
      <p:sp>
        <p:nvSpPr>
          <p:cNvPr id="57" name="Text 55"/>
          <p:cNvSpPr/>
          <p:nvPr/>
        </p:nvSpPr>
        <p:spPr>
          <a:xfrm>
            <a:off x="4169664" y="2953512"/>
            <a:ext cx="2103120" cy="3566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309360" y="2953512"/>
            <a:ext cx="2761488" cy="356616"/>
          </a:xfrm>
          <a:prstGeom prst="rect">
            <a:avLst/>
          </a:prstGeom>
          <a:solidFill>
            <a:srgbClr val="D5F0E0"/>
          </a:solidFill>
          <a:ln/>
        </p:spPr>
      </p:sp>
      <p:sp>
        <p:nvSpPr>
          <p:cNvPr id="59" name="Text 57"/>
          <p:cNvSpPr/>
          <p:nvPr/>
        </p:nvSpPr>
        <p:spPr>
          <a:xfrm>
            <a:off x="6309360" y="2953512"/>
            <a:ext cx="2761488" cy="3566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5C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 (полностью)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3152" y="3337560"/>
            <a:ext cx="1920240" cy="356616"/>
          </a:xfrm>
          <a:prstGeom prst="rect">
            <a:avLst/>
          </a:prstGeom>
          <a:solidFill>
            <a:srgbClr val="C0395A"/>
          </a:solidFill>
          <a:ln/>
        </p:spPr>
      </p:sp>
      <p:sp>
        <p:nvSpPr>
          <p:cNvPr id="61" name="Text 59"/>
          <p:cNvSpPr/>
          <p:nvPr/>
        </p:nvSpPr>
        <p:spPr>
          <a:xfrm>
            <a:off x="73152" y="3337560"/>
            <a:ext cx="1920240" cy="35661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Принципы ООП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2029968" y="3337560"/>
            <a:ext cx="2103120" cy="3566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Text 61"/>
          <p:cNvSpPr/>
          <p:nvPr/>
        </p:nvSpPr>
        <p:spPr>
          <a:xfrm>
            <a:off x="2029968" y="3337560"/>
            <a:ext cx="2103120" cy="3566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169664" y="3337560"/>
            <a:ext cx="2103120" cy="3566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5" name="Text 63"/>
          <p:cNvSpPr/>
          <p:nvPr/>
        </p:nvSpPr>
        <p:spPr>
          <a:xfrm>
            <a:off x="4169664" y="3337560"/>
            <a:ext cx="2103120" cy="3566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309360" y="3337560"/>
            <a:ext cx="2761488" cy="356616"/>
          </a:xfrm>
          <a:prstGeom prst="rect">
            <a:avLst/>
          </a:prstGeom>
          <a:solidFill>
            <a:srgbClr val="E8F8EE"/>
          </a:solidFill>
          <a:ln/>
        </p:spPr>
      </p:sp>
      <p:sp>
        <p:nvSpPr>
          <p:cNvPr id="67" name="Text 65"/>
          <p:cNvSpPr/>
          <p:nvPr/>
        </p:nvSpPr>
        <p:spPr>
          <a:xfrm>
            <a:off x="6309360" y="3337560"/>
            <a:ext cx="2761488" cy="3566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5C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Наследование, полиморфизм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73152" y="3721608"/>
            <a:ext cx="1920240" cy="356616"/>
          </a:xfrm>
          <a:prstGeom prst="rect">
            <a:avLst/>
          </a:prstGeom>
          <a:solidFill>
            <a:srgbClr val="C0395A"/>
          </a:solidFill>
          <a:ln/>
        </p:spPr>
      </p:sp>
      <p:sp>
        <p:nvSpPr>
          <p:cNvPr id="69" name="Text 67"/>
          <p:cNvSpPr/>
          <p:nvPr/>
        </p:nvSpPr>
        <p:spPr>
          <a:xfrm>
            <a:off x="73152" y="3721608"/>
            <a:ext cx="1920240" cy="35661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учебных целей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2029968" y="3721608"/>
            <a:ext cx="2103120" cy="356616"/>
          </a:xfrm>
          <a:prstGeom prst="rect">
            <a:avLst/>
          </a:prstGeom>
          <a:solidFill>
            <a:srgbClr val="F5E6EA"/>
          </a:solidFill>
          <a:ln/>
        </p:spPr>
      </p:sp>
      <p:sp>
        <p:nvSpPr>
          <p:cNvPr id="71" name="Text 69"/>
          <p:cNvSpPr/>
          <p:nvPr/>
        </p:nvSpPr>
        <p:spPr>
          <a:xfrm>
            <a:off x="2029968" y="3721608"/>
            <a:ext cx="2103120" cy="3566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169664" y="3721608"/>
            <a:ext cx="2103120" cy="356616"/>
          </a:xfrm>
          <a:prstGeom prst="rect">
            <a:avLst/>
          </a:prstGeom>
          <a:solidFill>
            <a:srgbClr val="F5E6EA"/>
          </a:solidFill>
          <a:ln/>
        </p:spPr>
      </p:sp>
      <p:sp>
        <p:nvSpPr>
          <p:cNvPr id="73" name="Text 71"/>
          <p:cNvSpPr/>
          <p:nvPr/>
        </p:nvSpPr>
        <p:spPr>
          <a:xfrm>
            <a:off x="4169664" y="3721608"/>
            <a:ext cx="2103120" cy="3566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309360" y="3721608"/>
            <a:ext cx="2761488" cy="356616"/>
          </a:xfrm>
          <a:prstGeom prst="rect">
            <a:avLst/>
          </a:prstGeom>
          <a:solidFill>
            <a:srgbClr val="D5F0E0"/>
          </a:solidFill>
          <a:ln/>
        </p:spPr>
      </p:sp>
      <p:sp>
        <p:nvSpPr>
          <p:cNvPr id="75" name="Text 73"/>
          <p:cNvSpPr/>
          <p:nvPr/>
        </p:nvSpPr>
        <p:spPr>
          <a:xfrm>
            <a:off x="6309360" y="3721608"/>
            <a:ext cx="2761488" cy="3566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5C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 (идеально)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6291072" y="640080"/>
            <a:ext cx="2798064" cy="3465576"/>
          </a:xfrm>
          <a:prstGeom prst="rect">
            <a:avLst/>
          </a:prstGeom>
          <a:solidFill>
            <a:srgbClr val="FFFFFF">
              <a:alpha val="0"/>
            </a:srgbClr>
          </a:solidFill>
          <a:ln w="31750">
            <a:solidFill>
              <a:srgbClr val="27AE6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A202C"/>
          </a:solidFill>
          <a:ln/>
        </p:spPr>
      </p:sp>
      <p:sp>
        <p:nvSpPr>
          <p:cNvPr id="78" name="Text 76"/>
          <p:cNvSpPr/>
          <p:nvPr/>
        </p:nvSpPr>
        <p:spPr>
          <a:xfrm>
            <a:off x="274320" y="4828032"/>
            <a:ext cx="859536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Наше приложение превосходит аналоги по ключевым учебным критериям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Функционал приложения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502920" cy="502920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102412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Добавление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141732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Два типа контактов: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Личный и Рабочий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82296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051560"/>
            <a:ext cx="502920" cy="502920"/>
          </a:xfrm>
          <a:prstGeom prst="ellipse">
            <a:avLst/>
          </a:prstGeom>
          <a:solidFill>
            <a:srgbClr val="9F7AEA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977640" y="102412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77640" y="141732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имени, фамилии,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телефону, email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82296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051560"/>
            <a:ext cx="502920" cy="502920"/>
          </a:xfrm>
          <a:prstGeom prst="ellipse">
            <a:avLst/>
          </a:prstGeom>
          <a:solidFill>
            <a:srgbClr val="48BB78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12280" y="102412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Редактирование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12280" y="141732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Изменение любого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поля контакта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69748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2926080"/>
            <a:ext cx="502920" cy="502920"/>
          </a:xfrm>
          <a:prstGeom prst="ellipse">
            <a:avLst/>
          </a:prstGeom>
          <a:solidFill>
            <a:srgbClr val="FC8181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🗑️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43000" y="289864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Удаление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43000" y="32918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подтверждением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действия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0" y="269748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83280" y="2926080"/>
            <a:ext cx="502920" cy="502920"/>
          </a:xfrm>
          <a:prstGeom prst="ellipse">
            <a:avLst/>
          </a:prstGeom>
          <a:solidFill>
            <a:srgbClr val="F6AD55"/>
          </a:solidFill>
          <a:ln/>
        </p:spPr>
      </p:sp>
      <p:sp>
        <p:nvSpPr>
          <p:cNvPr id="26" name="Text 24"/>
          <p:cNvSpPr/>
          <p:nvPr/>
        </p:nvSpPr>
        <p:spPr>
          <a:xfrm>
            <a:off x="338328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977640" y="289864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Сохранение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977640" y="32918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Автосохранение в JSON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между сеансами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35040" y="269748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0" y="2926080"/>
            <a:ext cx="502920" cy="502920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12280" y="289864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Просмотр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812280" y="32918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Список + панель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деталей контакта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35" name="Text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Контактная книга • Функционал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Сценарий тестирования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868680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365760" cy="365760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22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804672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 приложения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931920" y="804672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Открывается главное окно, загружаются сохранённые контакты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321040" y="80467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28600" y="1325880"/>
            <a:ext cx="8686800" cy="512064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" y="1399032"/>
            <a:ext cx="365760" cy="365760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1399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1380744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Добавление личного контакта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931920" y="1380744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 открывается, поля заполняются, контакт появляется в списке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321040" y="1380744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28600" y="1901952"/>
            <a:ext cx="868680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274320" y="1975104"/>
            <a:ext cx="365760" cy="365760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1975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1956816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Добавление рабочего контакта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931920" y="1956816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 переключается, отображаются поля Компания и Должность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321040" y="1956816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28600" y="2478024"/>
            <a:ext cx="8686800" cy="512064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3" name="Shape 21"/>
          <p:cNvSpPr/>
          <p:nvPr/>
        </p:nvSpPr>
        <p:spPr>
          <a:xfrm>
            <a:off x="274320" y="2551176"/>
            <a:ext cx="365760" cy="365760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2551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1520" y="2532888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 контакта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931920" y="2532888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Список фильтруется в реальном времени при вводе запроса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321040" y="2532888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28600" y="3054096"/>
            <a:ext cx="868680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274320" y="3127248"/>
            <a:ext cx="365760" cy="365760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3127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31520" y="3108960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Редактирование контакта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931920" y="3108960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 заполняется текущими данными, изменения сохраняются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21040" y="3108960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228600" y="3630168"/>
            <a:ext cx="8686800" cy="512064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5" name="Shape 33"/>
          <p:cNvSpPr/>
          <p:nvPr/>
        </p:nvSpPr>
        <p:spPr>
          <a:xfrm>
            <a:off x="274320" y="3703320"/>
            <a:ext cx="365760" cy="365760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31520" y="3685032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Удаление контакта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931920" y="3685032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Появляется диалог подтверждения, контакт удаляется из списка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321040" y="368503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228600" y="4206240"/>
            <a:ext cx="868680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274320" y="4279392"/>
            <a:ext cx="365760" cy="365760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42" name="Text 40"/>
          <p:cNvSpPr/>
          <p:nvPr/>
        </p:nvSpPr>
        <p:spPr>
          <a:xfrm>
            <a:off x="274320" y="4279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31520" y="4261104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Перезапуск приложения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931920" y="4261104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контакты загружаются из файла contacts.json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321040" y="4261104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47" name="Text 4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Контактная книга • Тестирование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8BB7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Заключение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7680960" cy="548640"/>
          </a:xfrm>
          <a:prstGeom prst="rect">
            <a:avLst/>
          </a:prstGeom>
          <a:solidFill>
            <a:srgbClr val="25304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344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123444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Разработано приложение с графическим интерфейсом на Tkinter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7680960" cy="548640"/>
          </a:xfrm>
          <a:prstGeom prst="rect">
            <a:avLst/>
          </a:prstGeom>
          <a:solidFill>
            <a:srgbClr val="25304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9202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192024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Применены принципы ООП: наследование, полиморфизм, инкапсуляция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606040"/>
            <a:ext cx="7680960" cy="548640"/>
          </a:xfrm>
          <a:prstGeom prst="rect">
            <a:avLst/>
          </a:prstGeom>
          <a:solidFill>
            <a:srgbClr val="253048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6060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260604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Код разбит на 5 модулей по принципу единственной ответственности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291840"/>
            <a:ext cx="7680960" cy="548640"/>
          </a:xfrm>
          <a:prstGeom prst="rect">
            <a:avLst/>
          </a:prstGeom>
          <a:solidFill>
            <a:srgbClr val="253048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2918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329184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сохраняются и загружаются через изолированный класс FileStorage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977640"/>
            <a:ext cx="7680960" cy="548640"/>
          </a:xfrm>
          <a:prstGeom prst="rect">
            <a:avLst/>
          </a:prstGeom>
          <a:solidFill>
            <a:srgbClr val="253048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9776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397764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7 сценариев использования успешно протестированы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 за внимание! Проект готов к защите.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534</Words>
  <Application>Microsoft Office PowerPoint</Application>
  <PresentationFormat>Экран (16:9)</PresentationFormat>
  <Paragraphs>185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Arial Black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Контактная книга</dc:title>
  <dc:subject>PptxGenJS Presentation</dc:subject>
  <dc:creator>PptxGenJS</dc:creator>
  <cp:lastModifiedBy>Fayzullo</cp:lastModifiedBy>
  <cp:revision>3</cp:revision>
  <dcterms:created xsi:type="dcterms:W3CDTF">2026-05-14T00:09:22Z</dcterms:created>
  <dcterms:modified xsi:type="dcterms:W3CDTF">2026-05-14T01:34:42Z</dcterms:modified>
</cp:coreProperties>
</file>